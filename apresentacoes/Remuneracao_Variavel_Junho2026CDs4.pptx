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charts/chart10.xml" ContentType="application/vnd.openxmlformats-officedocument.drawingml.chart+xml"/>
  <Override PartName="/ppt/drawings/drawing2.xml" ContentType="application/vnd.openxmlformats-officedocument.drawingml.chartshapes+xml"/>
  <Override PartName="/ppt/charts/chart11.xml" ContentType="application/vnd.openxmlformats-officedocument.drawingml.chart+xml"/>
  <Override PartName="/ppt/drawings/drawing3.xml" ContentType="application/vnd.openxmlformats-officedocument.drawingml.chartshapes+xml"/>
  <Override PartName="/ppt/charts/chart12.xml" ContentType="application/vnd.openxmlformats-officedocument.drawingml.chart+xml"/>
  <Override PartName="/ppt/drawings/drawing4.xml" ContentType="application/vnd.openxmlformats-officedocument.drawingml.chartshapes+xml"/>
  <Override PartName="/ppt/charts/chart13.xml" ContentType="application/vnd.openxmlformats-officedocument.drawingml.chart+xml"/>
  <Override PartName="/ppt/drawings/drawing5.xml" ContentType="application/vnd.openxmlformats-officedocument.drawingml.chartshape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  <p:sldMasterId id="2147483756" r:id="rId2"/>
  </p:sldMasterIdLst>
  <p:notesMasterIdLst>
    <p:notesMasterId r:id="rId22"/>
  </p:notesMasterIdLst>
  <p:sldIdLst>
    <p:sldId id="265" r:id="rId3"/>
    <p:sldId id="266" r:id="rId4"/>
    <p:sldId id="267" r:id="rId5"/>
    <p:sldId id="269" r:id="rId6"/>
    <p:sldId id="274" r:id="rId7"/>
    <p:sldId id="280" r:id="rId8"/>
    <p:sldId id="279" r:id="rId9"/>
    <p:sldId id="278" r:id="rId10"/>
    <p:sldId id="277" r:id="rId11"/>
    <p:sldId id="276" r:id="rId12"/>
    <p:sldId id="270" r:id="rId13"/>
    <p:sldId id="271" r:id="rId14"/>
    <p:sldId id="281" r:id="rId15"/>
    <p:sldId id="288" r:id="rId16"/>
    <p:sldId id="282" r:id="rId17"/>
    <p:sldId id="285" r:id="rId18"/>
    <p:sldId id="286" r:id="rId19"/>
    <p:sldId id="289" r:id="rId20"/>
    <p:sldId id="273" r:id="rId2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251257\Downloads\producao_colaboradores_Geral%20(Recuperado)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251257\Downloads\producao_colaboradores_Geral%20(Recuperado)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5251257\Downloads\producao_colaboradores_Geral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5251257\Downloads\producao_colaboradores_Geral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5251257\Downloads\producao_colaboradores_Geral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5251257\Downloads\producao_colaboradores_Geral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5251257\Downloads\producao_colaboradores_Geral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5251257\AppData\Roaming\Microsoft\Excel\producao_colaboradores_Geral%20(version%201).xlsb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5251257\Desktop\Pagamento%20produtividade\Evolu&#231;&#227;o%20real\Prdutividade%20CD's\producao_colaboradores_Geral%20(Recuperado).xlsm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5251257\Downloads\producao_colaboradores_Geral.xlsm" TargetMode="Externa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5251257\Downloads\producao_colaboradores_Geral.xlsm" TargetMode="Externa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Users\5251257\Downloads\producao_colaboradores_Geral.xlsm" TargetMode="Externa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oleObject" Target="file:///C:\Users\5251257\Downloads\producao_colaboradores_Geral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Média_Geral!$C$13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Média_Geral!$B$14:$B$21</c15:sqref>
                  </c15:fullRef>
                </c:ext>
              </c:extLst>
              <c:f>(Média_Geral!$B$14:$B$16,Média_Geral!$B$18:$B$21)</c:f>
              <c:strCache>
                <c:ptCount val="7"/>
                <c:pt idx="0">
                  <c:v>1965</c:v>
                </c:pt>
                <c:pt idx="1">
                  <c:v>930</c:v>
                </c:pt>
                <c:pt idx="2">
                  <c:v>1942</c:v>
                </c:pt>
                <c:pt idx="3">
                  <c:v>409</c:v>
                </c:pt>
                <c:pt idx="4">
                  <c:v>1974</c:v>
                </c:pt>
                <c:pt idx="5">
                  <c:v>1979</c:v>
                </c:pt>
                <c:pt idx="6">
                  <c:v>Total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Média_Geral!$C$14:$C$21</c15:sqref>
                  </c15:fullRef>
                </c:ext>
              </c:extLst>
              <c:f>(Média_Geral!$C$14:$C$16,Média_Geral!$C$18:$C$21)</c:f>
              <c:numCache>
                <c:formatCode>#,##0</c:formatCode>
                <c:ptCount val="7"/>
                <c:pt idx="0">
                  <c:v>322</c:v>
                </c:pt>
                <c:pt idx="1">
                  <c:v>301.35494269795169</c:v>
                </c:pt>
                <c:pt idx="2">
                  <c:v>407.39049816203755</c:v>
                </c:pt>
                <c:pt idx="3">
                  <c:v>540.20430228609985</c:v>
                </c:pt>
                <c:pt idx="4">
                  <c:v>619.98581912101679</c:v>
                </c:pt>
                <c:pt idx="5">
                  <c:v>756.48325575646652</c:v>
                </c:pt>
                <c:pt idx="6">
                  <c:v>467.25088106016614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7-4D02-911C-E8EAAF7AF166}"/>
            </c:ext>
          </c:extLst>
        </c:ser>
        <c:ser>
          <c:idx val="2"/>
          <c:order val="1"/>
          <c:tx>
            <c:strRef>
              <c:f>Média_Geral!$D$13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Média_Geral!$B$14:$B$21</c15:sqref>
                  </c15:fullRef>
                </c:ext>
              </c:extLst>
              <c:f>(Média_Geral!$B$14:$B$16,Média_Geral!$B$18:$B$21)</c:f>
              <c:strCache>
                <c:ptCount val="7"/>
                <c:pt idx="0">
                  <c:v>1965</c:v>
                </c:pt>
                <c:pt idx="1">
                  <c:v>930</c:v>
                </c:pt>
                <c:pt idx="2">
                  <c:v>1942</c:v>
                </c:pt>
                <c:pt idx="3">
                  <c:v>409</c:v>
                </c:pt>
                <c:pt idx="4">
                  <c:v>1974</c:v>
                </c:pt>
                <c:pt idx="5">
                  <c:v>1979</c:v>
                </c:pt>
                <c:pt idx="6">
                  <c:v>Total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Média_Geral!$D$14:$D$21</c15:sqref>
                  </c15:fullRef>
                </c:ext>
              </c:extLst>
              <c:f>(Média_Geral!$D$14:$D$16,Média_Geral!$D$18:$D$21)</c:f>
              <c:numCache>
                <c:formatCode>#,##0</c:formatCode>
                <c:ptCount val="7"/>
                <c:pt idx="0">
                  <c:v>304</c:v>
                </c:pt>
                <c:pt idx="1">
                  <c:v>322.56245889714171</c:v>
                </c:pt>
                <c:pt idx="2">
                  <c:v>413.79087127846662</c:v>
                </c:pt>
                <c:pt idx="3">
                  <c:v>573.04988287273159</c:v>
                </c:pt>
                <c:pt idx="4">
                  <c:v>709.20652269782818</c:v>
                </c:pt>
                <c:pt idx="5">
                  <c:v>857.57039880714149</c:v>
                </c:pt>
                <c:pt idx="6">
                  <c:v>523.63514117312093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B7-4D02-911C-E8EAAF7AF1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7"/>
        <c:overlap val="-10"/>
        <c:axId val="2094748304"/>
        <c:axId val="2094757456"/>
      </c:barChart>
      <c:catAx>
        <c:axId val="209474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94757456"/>
        <c:crossesAt val="10"/>
        <c:auto val="1"/>
        <c:lblAlgn val="ctr"/>
        <c:lblOffset val="100"/>
        <c:noMultiLvlLbl val="0"/>
      </c:catAx>
      <c:valAx>
        <c:axId val="2094757456"/>
        <c:scaling>
          <c:orientation val="minMax"/>
          <c:min val="200"/>
        </c:scaling>
        <c:delete val="1"/>
        <c:axPos val="l"/>
        <c:numFmt formatCode="#,##0" sourceLinked="1"/>
        <c:majorTickMark val="none"/>
        <c:minorTickMark val="none"/>
        <c:tickLblPos val="nextTo"/>
        <c:crossAx val="209474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10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Média_Geral!$C$13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Média_Geral!$B$14:$B$21</c15:sqref>
                  </c15:fullRef>
                </c:ext>
              </c:extLst>
              <c:f>Média_Geral!$B$14</c:f>
              <c:strCache>
                <c:ptCount val="1"/>
                <c:pt idx="0">
                  <c:v>1965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Média_Geral!$C$14:$C$21</c15:sqref>
                  </c15:fullRef>
                </c:ext>
              </c:extLst>
              <c:f>Média_Geral!$C$14</c:f>
              <c:numCache>
                <c:formatCode>#,##0</c:formatCode>
                <c:ptCount val="1"/>
                <c:pt idx="0">
                  <c:v>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E7-4648-9195-4656ECFE0F52}"/>
            </c:ext>
          </c:extLst>
        </c:ser>
        <c:ser>
          <c:idx val="2"/>
          <c:order val="1"/>
          <c:tx>
            <c:strRef>
              <c:f>Média_Geral!$D$13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Média_Geral!$B$14:$B$21</c15:sqref>
                  </c15:fullRef>
                </c:ext>
              </c:extLst>
              <c:f>Média_Geral!$B$14</c:f>
              <c:strCache>
                <c:ptCount val="1"/>
                <c:pt idx="0">
                  <c:v>1965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Média_Geral!$D$14:$D$21</c15:sqref>
                  </c15:fullRef>
                </c:ext>
              </c:extLst>
              <c:f>Média_Geral!$D$14</c:f>
              <c:numCache>
                <c:formatCode>#,##0</c:formatCode>
                <c:ptCount val="1"/>
                <c:pt idx="0">
                  <c:v>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E7-4648-9195-4656ECFE0F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7"/>
        <c:overlap val="-10"/>
        <c:axId val="2094748304"/>
        <c:axId val="2094757456"/>
      </c:barChart>
      <c:catAx>
        <c:axId val="209474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94757456"/>
        <c:crossesAt val="10"/>
        <c:auto val="1"/>
        <c:lblAlgn val="ctr"/>
        <c:lblOffset val="100"/>
        <c:noMultiLvlLbl val="0"/>
      </c:catAx>
      <c:valAx>
        <c:axId val="2094757456"/>
        <c:scaling>
          <c:orientation val="minMax"/>
          <c:min val="200"/>
        </c:scaling>
        <c:delete val="1"/>
        <c:axPos val="l"/>
        <c:numFmt formatCode="#,##0" sourceLinked="1"/>
        <c:majorTickMark val="none"/>
        <c:minorTickMark val="none"/>
        <c:tickLblPos val="nextTo"/>
        <c:crossAx val="209474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100"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Média_Geral!$C$1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465-4151-BE56-6A6955CFB7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Média_Geral!$B$2:$B$9</c:f>
              <c:strCache>
                <c:ptCount val="1"/>
                <c:pt idx="0">
                  <c:v>930</c:v>
                </c:pt>
              </c:strCache>
            </c:strRef>
          </c:cat>
          <c:val>
            <c:numRef>
              <c:f>Média_Geral!$C$2:$C$9</c:f>
              <c:numCache>
                <c:formatCode>#,##0</c:formatCode>
                <c:ptCount val="1"/>
                <c:pt idx="0">
                  <c:v>301.35494269795169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65-4151-BE56-6A6955CFB765}"/>
            </c:ext>
          </c:extLst>
        </c:ser>
        <c:ser>
          <c:idx val="1"/>
          <c:order val="1"/>
          <c:tx>
            <c:strRef>
              <c:f>Média_Geral!$D$1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Média_Geral!$B$2:$B$9</c:f>
              <c:strCache>
                <c:ptCount val="1"/>
                <c:pt idx="0">
                  <c:v>930</c:v>
                </c:pt>
              </c:strCache>
            </c:strRef>
          </c:cat>
          <c:val>
            <c:numRef>
              <c:f>Média_Geral!$D$2:$D$9</c:f>
              <c:numCache>
                <c:formatCode>#,##0</c:formatCode>
                <c:ptCount val="1"/>
                <c:pt idx="0">
                  <c:v>322.56245889714171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65-4151-BE56-6A6955CFB7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3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Média_Geral!$C$1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Média_Geral!$B$2:$B$9</c:f>
              <c:strCache>
                <c:ptCount val="1"/>
                <c:pt idx="0">
                  <c:v>1942</c:v>
                </c:pt>
              </c:strCache>
            </c:strRef>
          </c:cat>
          <c:val>
            <c:numRef>
              <c:f>Média_Geral!$C$2:$C$9</c:f>
              <c:numCache>
                <c:formatCode>#,##0</c:formatCode>
                <c:ptCount val="1"/>
                <c:pt idx="0">
                  <c:v>407.39049816203755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1-4FC6-9D8D-620DF0F63609}"/>
            </c:ext>
          </c:extLst>
        </c:ser>
        <c:ser>
          <c:idx val="1"/>
          <c:order val="1"/>
          <c:tx>
            <c:strRef>
              <c:f>Média_Geral!$D$1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Média_Geral!$B$2:$B$9</c:f>
              <c:strCache>
                <c:ptCount val="1"/>
                <c:pt idx="0">
                  <c:v>1942</c:v>
                </c:pt>
              </c:strCache>
            </c:strRef>
          </c:cat>
          <c:val>
            <c:numRef>
              <c:f>Média_Geral!$D$2:$D$9</c:f>
              <c:numCache>
                <c:formatCode>#,##0</c:formatCode>
                <c:ptCount val="1"/>
                <c:pt idx="0">
                  <c:v>413.79087127846662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F1-4FC6-9D8D-620DF0F636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3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Média_Geral!$C$1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Média_Geral!$B$2:$B$9</c:f>
              <c:strCache>
                <c:ptCount val="1"/>
                <c:pt idx="0">
                  <c:v>409</c:v>
                </c:pt>
              </c:strCache>
            </c:strRef>
          </c:cat>
          <c:val>
            <c:numRef>
              <c:f>Média_Geral!$C$2:$C$9</c:f>
              <c:numCache>
                <c:formatCode>#,##0</c:formatCode>
                <c:ptCount val="1"/>
                <c:pt idx="0">
                  <c:v>540.20430228609985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56-40F9-89E5-3F7CF8C1E79D}"/>
            </c:ext>
          </c:extLst>
        </c:ser>
        <c:ser>
          <c:idx val="1"/>
          <c:order val="1"/>
          <c:tx>
            <c:strRef>
              <c:f>Média_Geral!$D$1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Média_Geral!$B$2:$B$9</c:f>
              <c:strCache>
                <c:ptCount val="1"/>
                <c:pt idx="0">
                  <c:v>409</c:v>
                </c:pt>
              </c:strCache>
            </c:strRef>
          </c:cat>
          <c:val>
            <c:numRef>
              <c:f>Média_Geral!$D$2:$D$9</c:f>
              <c:numCache>
                <c:formatCode>#,##0</c:formatCode>
                <c:ptCount val="1"/>
                <c:pt idx="0">
                  <c:v>573.04988287273159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56-40F9-89E5-3F7CF8C1E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3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Média_Geral!$C$1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Média_Geral!$B$2:$B$9</c:f>
              <c:strCache>
                <c:ptCount val="1"/>
                <c:pt idx="0">
                  <c:v>1974</c:v>
                </c:pt>
              </c:strCache>
            </c:strRef>
          </c:cat>
          <c:val>
            <c:numRef>
              <c:f>Média_Geral!$C$2:$C$9</c:f>
              <c:numCache>
                <c:formatCode>#,##0</c:formatCode>
                <c:ptCount val="1"/>
                <c:pt idx="0">
                  <c:v>619.98581912101679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6D-4617-BC68-49F484449D9D}"/>
            </c:ext>
          </c:extLst>
        </c:ser>
        <c:ser>
          <c:idx val="1"/>
          <c:order val="1"/>
          <c:tx>
            <c:strRef>
              <c:f>Média_Geral!$D$1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Média_Geral!$B$2:$B$9</c:f>
              <c:strCache>
                <c:ptCount val="1"/>
                <c:pt idx="0">
                  <c:v>1974</c:v>
                </c:pt>
              </c:strCache>
            </c:strRef>
          </c:cat>
          <c:val>
            <c:numRef>
              <c:f>Média_Geral!$D$2:$D$9</c:f>
              <c:numCache>
                <c:formatCode>#,##0</c:formatCode>
                <c:ptCount val="1"/>
                <c:pt idx="0">
                  <c:v>709.20652269782818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6D-4617-BC68-49F484449D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3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Média_Geral!$C$1</c:f>
              <c:strCache>
                <c:ptCount val="1"/>
                <c:pt idx="0">
                  <c:v> Média 01/05 a 15/06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Média_Geral!$B$2:$B$9</c:f>
              <c:strCache>
                <c:ptCount val="1"/>
                <c:pt idx="0">
                  <c:v>1979</c:v>
                </c:pt>
              </c:strCache>
            </c:strRef>
          </c:cat>
          <c:val>
            <c:numRef>
              <c:f>Média_Geral!$C$2:$C$9</c:f>
              <c:numCache>
                <c:formatCode>#,##0</c:formatCode>
                <c:ptCount val="1"/>
                <c:pt idx="0">
                  <c:v>756.48325575646652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5-4AEB-AA0A-A1D9C328EA61}"/>
            </c:ext>
          </c:extLst>
        </c:ser>
        <c:ser>
          <c:idx val="1"/>
          <c:order val="1"/>
          <c:tx>
            <c:strRef>
              <c:f>Média_Geral!$D$1</c:f>
              <c:strCache>
                <c:ptCount val="1"/>
                <c:pt idx="0">
                  <c:v> Média 01/06 a 17/07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Média_Geral!$B$2:$B$9</c:f>
              <c:strCache>
                <c:ptCount val="1"/>
                <c:pt idx="0">
                  <c:v>1979</c:v>
                </c:pt>
              </c:strCache>
            </c:strRef>
          </c:cat>
          <c:val>
            <c:numRef>
              <c:f>Média_Geral!$D$2:$D$9</c:f>
              <c:numCache>
                <c:formatCode>#,##0</c:formatCode>
                <c:ptCount val="1"/>
                <c:pt idx="0">
                  <c:v>857.57039880714149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45-4AEB-AA0A-A1D9C328EA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3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833502652669603E-2"/>
          <c:y val="0.16231884057971013"/>
          <c:w val="0.95033299469466082"/>
          <c:h val="0.692454182357640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LE_TER!$A$18</c:f>
              <c:strCache>
                <c:ptCount val="1"/>
                <c:pt idx="0">
                  <c:v>TT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D7B-4E30-983B-5CBDD4EA336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7B-4E30-983B-5CBDD4EA336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D7B-4E30-983B-5CBDD4EA336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D7B-4E30-983B-5CBDD4EA336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D7B-4E30-983B-5CBDD4EA336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1D7B-4E30-983B-5CBDD4EA3360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1D7B-4E30-983B-5CBDD4EA3360}"/>
              </c:ext>
            </c:extLst>
          </c:dPt>
          <c:dLbls>
            <c:dLbl>
              <c:idx val="6"/>
              <c:tx>
                <c:rich>
                  <a:bodyPr/>
                  <a:lstStyle/>
                  <a:p>
                    <a:r>
                      <a:rPr lang="en-US" smtClean="0"/>
                      <a:t>3.047.104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D7B-4E30-983B-5CBDD4EA336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LE_TER!$B$2:$H$2</c:f>
              <c:numCache>
                <c:formatCode>mmm\-yy</c:formatCode>
                <c:ptCount val="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</c:numCache>
            </c:numRef>
          </c:cat>
          <c:val>
            <c:numRef>
              <c:f>LE_TER!$B$18:$H$18</c:f>
              <c:numCache>
                <c:formatCode>#,##0</c:formatCode>
                <c:ptCount val="7"/>
                <c:pt idx="0">
                  <c:v>3896675.61</c:v>
                </c:pt>
                <c:pt idx="1">
                  <c:v>3733140.08</c:v>
                </c:pt>
                <c:pt idx="2">
                  <c:v>3738063.0100000002</c:v>
                </c:pt>
                <c:pt idx="3">
                  <c:v>3864297.1700000004</c:v>
                </c:pt>
                <c:pt idx="4">
                  <c:v>3541407.1900000004</c:v>
                </c:pt>
                <c:pt idx="5">
                  <c:v>3182004.8899999997</c:v>
                </c:pt>
                <c:pt idx="6">
                  <c:v>3018140.1100000003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D7B-4E30-983B-5CBDD4EA33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dateAx>
        <c:axId val="209473455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crossAx val="2094734552"/>
        <c:crosses val="autoZero"/>
        <c:auto val="1"/>
        <c:lblOffset val="100"/>
        <c:baseTimeUnit val="months"/>
      </c:date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</c:plotArea>
    <c:plotVisOnly val="1"/>
    <c:dispBlanksAs val="span"/>
    <c:showDLblsOverMax val="1"/>
  </c:chart>
  <c:txPr>
    <a:bodyPr/>
    <a:lstStyle/>
    <a:p>
      <a:pPr>
        <a:defRPr sz="1100"/>
      </a:pPr>
      <a:endParaRPr lang="pt-B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833502652669603E-2"/>
          <c:y val="0.16231884057971013"/>
          <c:w val="0.95033299469466082"/>
          <c:h val="0.6924541823576401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LE_TER!$O$5</c:f>
              <c:strCache>
                <c:ptCount val="1"/>
                <c:pt idx="0">
                  <c:v>1965</c:v>
                </c:pt>
              </c:strCache>
              <c:extLst xmlns:c15="http://schemas.microsoft.com/office/drawing/2012/chart"/>
            </c:strRef>
          </c:tx>
          <c:spPr>
            <a:solidFill>
              <a:srgbClr val="00206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54D9-43E3-997C-B6A132F6446D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LE_TER!$L$6:$L$12</c:f>
              <c:numCache>
                <c:formatCode>mmm\-yy</c:formatCode>
                <c:ptCount val="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</c:numCache>
              <c:extLst xmlns:c15="http://schemas.microsoft.com/office/drawing/2012/chart"/>
            </c:numRef>
          </c:cat>
          <c:val>
            <c:numRef>
              <c:f>LE_TER!$O$6:$O$12</c:f>
              <c:numCache>
                <c:formatCode>#,##0</c:formatCode>
                <c:ptCount val="7"/>
                <c:pt idx="0">
                  <c:v>2266998.09</c:v>
                </c:pt>
                <c:pt idx="1">
                  <c:v>2176107.17</c:v>
                </c:pt>
                <c:pt idx="2">
                  <c:v>2342926.7400000002</c:v>
                </c:pt>
                <c:pt idx="3">
                  <c:v>1807826.87</c:v>
                </c:pt>
                <c:pt idx="4">
                  <c:v>1842246.33</c:v>
                </c:pt>
                <c:pt idx="5">
                  <c:v>1809313.16</c:v>
                </c:pt>
                <c:pt idx="6">
                  <c:v>1763394.77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54D9-43E3-997C-B6A132F644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LE_TER!$M$5</c15:sqref>
                        </c15:formulaRef>
                      </c:ext>
                    </c:extLst>
                    <c:strCache>
                      <c:ptCount val="1"/>
                      <c:pt idx="0">
                        <c:v>1942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0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3-54D9-43E3-997C-B6A132F6446D}"/>
                    </c:ext>
                  </c:extLst>
                </c:dPt>
                <c:dPt>
                  <c:idx val="1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4-54D9-43E3-997C-B6A132F6446D}"/>
                    </c:ext>
                  </c:extLst>
                </c:dPt>
                <c:dPt>
                  <c:idx val="2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5-54D9-43E3-997C-B6A132F6446D}"/>
                    </c:ext>
                  </c:extLst>
                </c:dPt>
                <c:dPt>
                  <c:idx val="3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6-54D9-43E3-997C-B6A132F6446D}"/>
                    </c:ext>
                  </c:extLst>
                </c:dPt>
                <c:dPt>
                  <c:idx val="4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7-54D9-43E3-997C-B6A132F6446D}"/>
                    </c:ext>
                  </c:extLst>
                </c:dPt>
                <c:dPt>
                  <c:idx val="5"/>
                  <c:invertIfNegative val="0"/>
                  <c:bubble3D val="0"/>
                  <c:spPr>
                    <a:solidFill>
                      <a:schemeClr val="accent5">
                        <a:lumMod val="75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9-54D9-43E3-997C-B6A132F6446D}"/>
                    </c:ext>
                  </c:extLst>
                </c:dPt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B-54D9-43E3-997C-B6A132F6446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LE_TER!$M$6:$M$12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448823.75</c:v>
                      </c:pt>
                      <c:pt idx="1">
                        <c:v>464952.69</c:v>
                      </c:pt>
                      <c:pt idx="2">
                        <c:v>407923.58</c:v>
                      </c:pt>
                      <c:pt idx="3">
                        <c:v>413395.63</c:v>
                      </c:pt>
                      <c:pt idx="4">
                        <c:v>396604.86</c:v>
                      </c:pt>
                      <c:pt idx="5">
                        <c:v>349232.01</c:v>
                      </c:pt>
                      <c:pt idx="6">
                        <c:v>329528.2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54D9-43E3-997C-B6A132F6446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LE_TER!$N$5</c15:sqref>
                        </c15:formulaRef>
                      </c:ext>
                    </c:extLst>
                    <c:strCache>
                      <c:ptCount val="1"/>
                      <c:pt idx="0">
                        <c:v>1952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LE_TER!$N$6:$N$12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91560.45</c:v>
                      </c:pt>
                      <c:pt idx="1">
                        <c:v>44302.06</c:v>
                      </c:pt>
                      <c:pt idx="2">
                        <c:v>71396.92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54D9-43E3-997C-B6A132F6446D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LE_TER!$P$5</c15:sqref>
                        </c15:formulaRef>
                      </c:ext>
                    </c:extLst>
                    <c:strCache>
                      <c:ptCount val="1"/>
                      <c:pt idx="0">
                        <c:v>930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F-54D9-43E3-997C-B6A132F6446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LE_TER!$P$6:$P$12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754204.73</c:v>
                      </c:pt>
                      <c:pt idx="1">
                        <c:v>867773.14</c:v>
                      </c:pt>
                      <c:pt idx="2">
                        <c:v>752709.09</c:v>
                      </c:pt>
                      <c:pt idx="3">
                        <c:v>1437216.85</c:v>
                      </c:pt>
                      <c:pt idx="4">
                        <c:v>1124884.5900000001</c:v>
                      </c:pt>
                      <c:pt idx="5">
                        <c:v>892451.49</c:v>
                      </c:pt>
                      <c:pt idx="6">
                        <c:v>809326.65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54D9-43E3-997C-B6A132F6446D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LE_TER!$Q$5</c15:sqref>
                        </c15:formulaRef>
                      </c:ext>
                    </c:extLst>
                    <c:strCache>
                      <c:ptCount val="1"/>
                      <c:pt idx="0">
                        <c:v>1987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LE_TER!$Q$6:$Q$12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14239.5</c:v>
                      </c:pt>
                      <c:pt idx="2">
                        <c:v>8831.14</c:v>
                      </c:pt>
                      <c:pt idx="3">
                        <c:v>5885.66</c:v>
                      </c:pt>
                      <c:pt idx="4">
                        <c:v>8516.24</c:v>
                      </c:pt>
                      <c:pt idx="5">
                        <c:v>11426</c:v>
                      </c:pt>
                      <c:pt idx="6">
                        <c:v>8516.19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54D9-43E3-997C-B6A132F6446D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LE_TER!$R$5</c15:sqref>
                        </c15:formulaRef>
                      </c:ext>
                    </c:extLst>
                    <c:strCache>
                      <c:ptCount val="1"/>
                      <c:pt idx="0">
                        <c:v>971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3-54D9-43E3-997C-B6A132F6446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LE_TER!$R$6:$R$12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14373.07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54D9-43E3-997C-B6A132F6446D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LE_TER!$S$5</c15:sqref>
                        </c15:formulaRef>
                      </c:ext>
                    </c:extLst>
                    <c:strCache>
                      <c:ptCount val="1"/>
                      <c:pt idx="0">
                        <c:v>6757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LE_TER!$S$6:$S$12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85289.55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54D9-43E3-997C-B6A132F6446D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LE_TER!$T$5</c15:sqref>
                        </c15:formulaRef>
                      </c:ext>
                    </c:extLst>
                    <c:strCache>
                      <c:ptCount val="1"/>
                      <c:pt idx="0">
                        <c:v>1979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LE_TER!$T$6:$T$12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18065.560000000001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22609.45</c:v>
                      </c:pt>
                      <c:pt idx="4">
                        <c:v>18046.27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54D9-43E3-997C-B6A132F6446D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LE_TER!$U$5</c15:sqref>
                        </c15:formulaRef>
                      </c:ext>
                    </c:extLst>
                    <c:strCache>
                      <c:ptCount val="1"/>
                      <c:pt idx="0">
                        <c:v>1953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8-54D9-43E3-997C-B6A132F6446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LE_TER!$U$6:$U$12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91555.13</c:v>
                      </c:pt>
                      <c:pt idx="1">
                        <c:v>129504.15</c:v>
                      </c:pt>
                      <c:pt idx="2">
                        <c:v>101816.85</c:v>
                      </c:pt>
                      <c:pt idx="3">
                        <c:v>111598.72</c:v>
                      </c:pt>
                      <c:pt idx="4">
                        <c:v>102517.5</c:v>
                      </c:pt>
                      <c:pt idx="5">
                        <c:v>103930.8</c:v>
                      </c:pt>
                      <c:pt idx="6">
                        <c:v>103930.8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54D9-43E3-997C-B6A132F6446D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LE_TER!$V$5</c15:sqref>
                        </c15:formulaRef>
                      </c:ext>
                    </c:extLst>
                    <c:strCache>
                      <c:ptCount val="1"/>
                      <c:pt idx="0">
                        <c:v>1974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B-54D9-43E3-997C-B6A132F6446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LE_TER!$V$6:$V$12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1309.42</c:v>
                      </c:pt>
                      <c:pt idx="1">
                        <c:v>1270.42</c:v>
                      </c:pt>
                      <c:pt idx="2">
                        <c:v>2134.42</c:v>
                      </c:pt>
                      <c:pt idx="3">
                        <c:v>2334.42</c:v>
                      </c:pt>
                      <c:pt idx="4">
                        <c:v>1254.42</c:v>
                      </c:pt>
                      <c:pt idx="5">
                        <c:v>1401</c:v>
                      </c:pt>
                      <c:pt idx="6">
                        <c:v>1401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54D9-43E3-997C-B6A132F6446D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LE_TER!$W$5</c15:sqref>
                        </c15:formulaRef>
                      </c:ext>
                    </c:extLst>
                    <c:strCache>
                      <c:ptCount val="1"/>
                      <c:pt idx="0">
                        <c:v>912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LE_TER!$W$6:$W$12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22903.34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54D9-43E3-997C-B6A132F6446D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LE_TER!$X$5</c15:sqref>
                        </c15:formulaRef>
                      </c:ext>
                    </c:extLst>
                    <c:strCache>
                      <c:ptCount val="1"/>
                      <c:pt idx="0">
                        <c:v>1978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LE_TER!$X$6:$X$12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9753.64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54D9-43E3-997C-B6A132F6446D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LE_TER!$Y$5</c15:sqref>
                        </c15:formulaRef>
                      </c:ext>
                    </c:extLst>
                    <c:strCache>
                      <c:ptCount val="1"/>
                      <c:pt idx="0">
                        <c:v>2986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LE_TER!$Y$6:$Y$12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86423.64</c:v>
                      </c:pt>
                      <c:pt idx="1">
                        <c:v>34990.949999999997</c:v>
                      </c:pt>
                      <c:pt idx="2">
                        <c:v>50324.27</c:v>
                      </c:pt>
                      <c:pt idx="3">
                        <c:v>49056.5</c:v>
                      </c:pt>
                      <c:pt idx="4">
                        <c:v>46128.06</c:v>
                      </c:pt>
                      <c:pt idx="5">
                        <c:v>11735.8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54D9-43E3-997C-B6A132F6446D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LE_TER!$Z$5</c15:sqref>
                        </c15:formulaRef>
                      </c:ext>
                    </c:extLst>
                    <c:strCache>
                      <c:ptCount val="1"/>
                      <c:pt idx="0">
                        <c:v>1902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LE_TER!$Z$6:$Z$12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19788.310000000001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1208.92</c:v>
                      </c:pt>
                      <c:pt idx="5">
                        <c:v>2514.63</c:v>
                      </c:pt>
                      <c:pt idx="6">
                        <c:v>10006.669999999998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54D9-43E3-997C-B6A132F6446D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LE_TER!$AA$5</c15:sqref>
                        </c15:formulaRef>
                      </c:ext>
                    </c:extLst>
                    <c:strCache>
                      <c:ptCount val="1"/>
                      <c:pt idx="0">
                        <c:v>409</c:v>
                      </c:pt>
                    </c:strCache>
                  </c:strRef>
                </c:tx>
                <c:invertIfNegative val="0"/>
                <c:dLbls>
                  <c:delete val="1"/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LE_TER!$AA$6:$AA$12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54D9-43E3-997C-B6A132F6446D}"/>
                  </c:ext>
                </c:extLst>
              </c15:ser>
            </c15:filteredBarSeries>
          </c:ext>
        </c:extLst>
      </c:barChart>
      <c:dateAx>
        <c:axId val="209473455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crossAx val="2094734552"/>
        <c:crosses val="autoZero"/>
        <c:auto val="1"/>
        <c:lblOffset val="100"/>
        <c:baseTimeUnit val="months"/>
      </c:date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</c:plotArea>
    <c:plotVisOnly val="1"/>
    <c:dispBlanksAs val="span"/>
    <c:showDLblsOverMax val="1"/>
  </c:chart>
  <c:txPr>
    <a:bodyPr/>
    <a:lstStyle/>
    <a:p>
      <a:pPr>
        <a:defRPr sz="1100"/>
      </a:pPr>
      <a:endParaRPr lang="pt-BR"/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833502652669603E-2"/>
          <c:y val="0.16231884057971013"/>
          <c:w val="0.95033299469466082"/>
          <c:h val="0.692454182357640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LE_TER!$M$5</c:f>
              <c:strCache>
                <c:ptCount val="1"/>
                <c:pt idx="0">
                  <c:v>1942</c:v>
                </c:pt>
              </c:strCache>
              <c:extLst xmlns:c15="http://schemas.microsoft.com/office/drawing/2012/chart"/>
            </c:strRef>
          </c:tx>
          <c:spPr>
            <a:solidFill>
              <a:srgbClr val="002060"/>
            </a:solidFill>
          </c:spPr>
          <c:invertIfNegative val="0"/>
          <c:dPt>
            <c:idx val="0"/>
            <c:invertIfNegative val="0"/>
            <c:bubble3D val="0"/>
            <c:extLst xmlns:c15="http://schemas.microsoft.com/office/drawing/2012/chart">
              <c:ext xmlns:c16="http://schemas.microsoft.com/office/drawing/2014/chart" uri="{C3380CC4-5D6E-409C-BE32-E72D297353CC}">
                <c16:uniqueId val="{00000000-464D-4DEA-8F0E-00F346FD0F3B}"/>
              </c:ext>
            </c:extLst>
          </c:dPt>
          <c:dPt>
            <c:idx val="1"/>
            <c:invertIfNegative val="0"/>
            <c:bubble3D val="0"/>
            <c:extLst xmlns:c15="http://schemas.microsoft.com/office/drawing/2012/chart">
              <c:ext xmlns:c16="http://schemas.microsoft.com/office/drawing/2014/chart" uri="{C3380CC4-5D6E-409C-BE32-E72D297353CC}">
                <c16:uniqueId val="{00000001-464D-4DEA-8F0E-00F346FD0F3B}"/>
              </c:ext>
            </c:extLst>
          </c:dPt>
          <c:dPt>
            <c:idx val="2"/>
            <c:invertIfNegative val="0"/>
            <c:bubble3D val="0"/>
            <c:extLst xmlns:c15="http://schemas.microsoft.com/office/drawing/2012/chart">
              <c:ext xmlns:c16="http://schemas.microsoft.com/office/drawing/2014/chart" uri="{C3380CC4-5D6E-409C-BE32-E72D297353CC}">
                <c16:uniqueId val="{00000002-464D-4DEA-8F0E-00F346FD0F3B}"/>
              </c:ext>
            </c:extLst>
          </c:dPt>
          <c:dPt>
            <c:idx val="3"/>
            <c:invertIfNegative val="0"/>
            <c:bubble3D val="0"/>
            <c:extLst xmlns:c15="http://schemas.microsoft.com/office/drawing/2012/chart">
              <c:ext xmlns:c16="http://schemas.microsoft.com/office/drawing/2014/chart" uri="{C3380CC4-5D6E-409C-BE32-E72D297353CC}">
                <c16:uniqueId val="{00000003-464D-4DEA-8F0E-00F346FD0F3B}"/>
              </c:ext>
            </c:extLst>
          </c:dPt>
          <c:dPt>
            <c:idx val="4"/>
            <c:invertIfNegative val="0"/>
            <c:bubble3D val="0"/>
            <c:extLst xmlns:c15="http://schemas.microsoft.com/office/drawing/2012/chart">
              <c:ext xmlns:c16="http://schemas.microsoft.com/office/drawing/2014/chart" uri="{C3380CC4-5D6E-409C-BE32-E72D297353CC}">
                <c16:uniqueId val="{00000004-464D-4DEA-8F0E-00F346FD0F3B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6-464D-4DEA-8F0E-00F346FD0F3B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8-464D-4DEA-8F0E-00F346FD0F3B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LE_TER!$L$6:$L$12</c:f>
              <c:numCache>
                <c:formatCode>mmm\-yy</c:formatCode>
                <c:ptCount val="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</c:numCache>
              <c:extLst xmlns:c15="http://schemas.microsoft.com/office/drawing/2012/chart"/>
            </c:numRef>
          </c:cat>
          <c:val>
            <c:numRef>
              <c:f>LE_TER!$M$6:$M$12</c:f>
              <c:numCache>
                <c:formatCode>#,##0</c:formatCode>
                <c:ptCount val="7"/>
                <c:pt idx="0">
                  <c:v>448823.75</c:v>
                </c:pt>
                <c:pt idx="1">
                  <c:v>464952.69</c:v>
                </c:pt>
                <c:pt idx="2">
                  <c:v>407923.58</c:v>
                </c:pt>
                <c:pt idx="3">
                  <c:v>413395.63</c:v>
                </c:pt>
                <c:pt idx="4">
                  <c:v>396604.86</c:v>
                </c:pt>
                <c:pt idx="5">
                  <c:v>349232.01</c:v>
                </c:pt>
                <c:pt idx="6">
                  <c:v>329528.2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9-464D-4DEA-8F0E-00F346FD0F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LE_TER!$N$5</c15:sqref>
                        </c15:formulaRef>
                      </c:ext>
                    </c:extLst>
                    <c:strCache>
                      <c:ptCount val="1"/>
                      <c:pt idx="0">
                        <c:v>1952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LE_TER!$N$6:$N$12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91560.45</c:v>
                      </c:pt>
                      <c:pt idx="1">
                        <c:v>44302.06</c:v>
                      </c:pt>
                      <c:pt idx="2">
                        <c:v>71396.92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21000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A-464D-4DEA-8F0E-00F346FD0F3B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LE_TER!$O$5</c15:sqref>
                        </c15:formulaRef>
                      </c:ext>
                    </c:extLst>
                    <c:strCache>
                      <c:ptCount val="1"/>
                      <c:pt idx="0">
                        <c:v>1965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C-464D-4DEA-8F0E-00F346FD0F3B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LE_TER!$O$6:$O$12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2266998.09</c:v>
                      </c:pt>
                      <c:pt idx="1">
                        <c:v>2176107.17</c:v>
                      </c:pt>
                      <c:pt idx="2">
                        <c:v>2342926.7400000002</c:v>
                      </c:pt>
                      <c:pt idx="3">
                        <c:v>1807826.87</c:v>
                      </c:pt>
                      <c:pt idx="4">
                        <c:v>1842246.33</c:v>
                      </c:pt>
                      <c:pt idx="5">
                        <c:v>1809313.16</c:v>
                      </c:pt>
                      <c:pt idx="6">
                        <c:v>1809313.16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464D-4DEA-8F0E-00F346FD0F3B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LE_TER!$P$5</c15:sqref>
                        </c15:formulaRef>
                      </c:ext>
                    </c:extLst>
                    <c:strCache>
                      <c:ptCount val="1"/>
                      <c:pt idx="0">
                        <c:v>930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LE_TER!$P$6:$P$12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754204.73</c:v>
                      </c:pt>
                      <c:pt idx="1">
                        <c:v>867773.14</c:v>
                      </c:pt>
                      <c:pt idx="2">
                        <c:v>752709.09</c:v>
                      </c:pt>
                      <c:pt idx="3">
                        <c:v>1437216.85</c:v>
                      </c:pt>
                      <c:pt idx="4">
                        <c:v>1124884.5900000001</c:v>
                      </c:pt>
                      <c:pt idx="5">
                        <c:v>892451.49</c:v>
                      </c:pt>
                      <c:pt idx="6">
                        <c:v>809326.65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64D-4DEA-8F0E-00F346FD0F3B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LE_TER!$Q$5</c15:sqref>
                        </c15:formulaRef>
                      </c:ext>
                    </c:extLst>
                    <c:strCache>
                      <c:ptCount val="1"/>
                      <c:pt idx="0">
                        <c:v>1987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LE_TER!$Q$6:$Q$12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14239.5</c:v>
                      </c:pt>
                      <c:pt idx="2">
                        <c:v>8831.14</c:v>
                      </c:pt>
                      <c:pt idx="3">
                        <c:v>5885.66</c:v>
                      </c:pt>
                      <c:pt idx="4">
                        <c:v>8516.24</c:v>
                      </c:pt>
                      <c:pt idx="5">
                        <c:v>11426</c:v>
                      </c:pt>
                      <c:pt idx="6">
                        <c:v>8516.19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464D-4DEA-8F0E-00F346FD0F3B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LE_TER!$R$5</c15:sqref>
                        </c15:formulaRef>
                      </c:ext>
                    </c:extLst>
                    <c:strCache>
                      <c:ptCount val="1"/>
                      <c:pt idx="0">
                        <c:v>971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1-464D-4DEA-8F0E-00F346FD0F3B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LE_TER!$R$6:$R$12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14373.07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464D-4DEA-8F0E-00F346FD0F3B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LE_TER!$S$5</c15:sqref>
                        </c15:formulaRef>
                      </c:ext>
                    </c:extLst>
                    <c:strCache>
                      <c:ptCount val="1"/>
                      <c:pt idx="0">
                        <c:v>6757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LE_TER!$S$6:$S$12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85289.55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464D-4DEA-8F0E-00F346FD0F3B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LE_TER!$T$5</c15:sqref>
                        </c15:formulaRef>
                      </c:ext>
                    </c:extLst>
                    <c:strCache>
                      <c:ptCount val="1"/>
                      <c:pt idx="0">
                        <c:v>1979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LE_TER!$T$6:$T$12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18065.560000000001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22609.45</c:v>
                      </c:pt>
                      <c:pt idx="4">
                        <c:v>18046.27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464D-4DEA-8F0E-00F346FD0F3B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LE_TER!$U$5</c15:sqref>
                        </c15:formulaRef>
                      </c:ext>
                    </c:extLst>
                    <c:strCache>
                      <c:ptCount val="1"/>
                      <c:pt idx="0">
                        <c:v>1953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LE_TER!$U$6:$U$12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91555.13</c:v>
                      </c:pt>
                      <c:pt idx="1">
                        <c:v>129504.15</c:v>
                      </c:pt>
                      <c:pt idx="2">
                        <c:v>101816.85</c:v>
                      </c:pt>
                      <c:pt idx="3">
                        <c:v>111598.72</c:v>
                      </c:pt>
                      <c:pt idx="4">
                        <c:v>102517.5</c:v>
                      </c:pt>
                      <c:pt idx="5">
                        <c:v>103930.8</c:v>
                      </c:pt>
                      <c:pt idx="6">
                        <c:v>103930.8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464D-4DEA-8F0E-00F346FD0F3B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LE_TER!$V$5</c15:sqref>
                        </c15:formulaRef>
                      </c:ext>
                    </c:extLst>
                    <c:strCache>
                      <c:ptCount val="1"/>
                      <c:pt idx="0">
                        <c:v>1974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LE_TER!$V$6:$V$12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1309.42</c:v>
                      </c:pt>
                      <c:pt idx="1">
                        <c:v>1270.42</c:v>
                      </c:pt>
                      <c:pt idx="2">
                        <c:v>2134.42</c:v>
                      </c:pt>
                      <c:pt idx="3">
                        <c:v>2334.42</c:v>
                      </c:pt>
                      <c:pt idx="4">
                        <c:v>1254.42</c:v>
                      </c:pt>
                      <c:pt idx="5">
                        <c:v>1401</c:v>
                      </c:pt>
                      <c:pt idx="6">
                        <c:v>1401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464D-4DEA-8F0E-00F346FD0F3B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LE_TER!$W$5</c15:sqref>
                        </c15:formulaRef>
                      </c:ext>
                    </c:extLst>
                    <c:strCache>
                      <c:ptCount val="1"/>
                      <c:pt idx="0">
                        <c:v>912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LE_TER!$W$6:$W$12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22903.34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464D-4DEA-8F0E-00F346FD0F3B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LE_TER!$X$5</c15:sqref>
                        </c15:formulaRef>
                      </c:ext>
                    </c:extLst>
                    <c:strCache>
                      <c:ptCount val="1"/>
                      <c:pt idx="0">
                        <c:v>1978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LE_TER!$X$6:$X$12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9753.64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464D-4DEA-8F0E-00F346FD0F3B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LE_TER!$Y$5</c15:sqref>
                        </c15:formulaRef>
                      </c:ext>
                    </c:extLst>
                    <c:strCache>
                      <c:ptCount val="1"/>
                      <c:pt idx="0">
                        <c:v>2986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LE_TER!$Y$6:$Y$12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86423.64</c:v>
                      </c:pt>
                      <c:pt idx="1">
                        <c:v>34990.949999999997</c:v>
                      </c:pt>
                      <c:pt idx="2">
                        <c:v>50324.27</c:v>
                      </c:pt>
                      <c:pt idx="3">
                        <c:v>49056.5</c:v>
                      </c:pt>
                      <c:pt idx="4">
                        <c:v>46128.06</c:v>
                      </c:pt>
                      <c:pt idx="5">
                        <c:v>11735.8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464D-4DEA-8F0E-00F346FD0F3B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LE_TER!$Z$5</c15:sqref>
                        </c15:formulaRef>
                      </c:ext>
                    </c:extLst>
                    <c:strCache>
                      <c:ptCount val="1"/>
                      <c:pt idx="0">
                        <c:v>1902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LE_TER!$Z$6:$Z$12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19788.310000000001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1208.92</c:v>
                      </c:pt>
                      <c:pt idx="5">
                        <c:v>2514.63</c:v>
                      </c:pt>
                      <c:pt idx="6">
                        <c:v>10006.669999999998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464D-4DEA-8F0E-00F346FD0F3B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LE_TER!$AA$5</c15:sqref>
                        </c15:formulaRef>
                      </c:ext>
                    </c:extLst>
                    <c:strCache>
                      <c:ptCount val="1"/>
                      <c:pt idx="0">
                        <c:v>409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LE_TER!$AA$6:$AA$12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464D-4DEA-8F0E-00F346FD0F3B}"/>
                  </c:ext>
                </c:extLst>
              </c15:ser>
            </c15:filteredBarSeries>
          </c:ext>
        </c:extLst>
      </c:barChart>
      <c:dateAx>
        <c:axId val="209473455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crossAx val="2094734552"/>
        <c:crosses val="autoZero"/>
        <c:auto val="1"/>
        <c:lblOffset val="100"/>
        <c:baseTimeUnit val="months"/>
      </c:date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</c:plotArea>
    <c:plotVisOnly val="1"/>
    <c:dispBlanksAs val="span"/>
    <c:showDLblsOverMax val="1"/>
  </c:chart>
  <c:txPr>
    <a:bodyPr/>
    <a:lstStyle/>
    <a:p>
      <a:pPr>
        <a:defRPr sz="1100"/>
      </a:pPr>
      <a:endParaRPr lang="pt-BR"/>
    </a:p>
  </c:txPr>
  <c:externalData r:id="rId1">
    <c:autoUpdate val="0"/>
  </c:externalData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833502652669603E-2"/>
          <c:y val="0.16231884057971013"/>
          <c:w val="0.95033299469466082"/>
          <c:h val="0.69245418235764011"/>
        </c:manualLayout>
      </c:layout>
      <c:barChart>
        <c:barDir val="col"/>
        <c:grouping val="clustered"/>
        <c:varyColors val="0"/>
        <c:ser>
          <c:idx val="3"/>
          <c:order val="3"/>
          <c:tx>
            <c:strRef>
              <c:f>LE_TER!$P$5</c:f>
              <c:strCache>
                <c:ptCount val="1"/>
                <c:pt idx="0">
                  <c:v>930</c:v>
                </c:pt>
              </c:strCache>
              <c:extLst xmlns:c15="http://schemas.microsoft.com/office/drawing/2012/chart"/>
            </c:strRef>
          </c:tx>
          <c:spPr>
            <a:solidFill>
              <a:srgbClr val="00206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1F78-45C3-86FA-8E5C20A2AEEB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LE_TER!$L$6:$L$12</c:f>
              <c:numCache>
                <c:formatCode>mmm\-yy</c:formatCode>
                <c:ptCount val="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</c:numCache>
              <c:extLst xmlns:c15="http://schemas.microsoft.com/office/drawing/2012/chart"/>
            </c:numRef>
          </c:cat>
          <c:val>
            <c:numRef>
              <c:f>LE_TER!$P$6:$P$12</c:f>
              <c:numCache>
                <c:formatCode>#,##0</c:formatCode>
                <c:ptCount val="7"/>
                <c:pt idx="0">
                  <c:v>754204.73</c:v>
                </c:pt>
                <c:pt idx="1">
                  <c:v>867773.14</c:v>
                </c:pt>
                <c:pt idx="2">
                  <c:v>752709.09</c:v>
                </c:pt>
                <c:pt idx="3">
                  <c:v>1437216.85</c:v>
                </c:pt>
                <c:pt idx="4">
                  <c:v>1124884.5900000001</c:v>
                </c:pt>
                <c:pt idx="5">
                  <c:v>892451.49</c:v>
                </c:pt>
                <c:pt idx="6">
                  <c:v>809326.65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1F78-45C3-86FA-8E5C20A2AE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LE_TER!$M$5</c15:sqref>
                        </c15:formulaRef>
                      </c:ext>
                    </c:extLst>
                    <c:strCache>
                      <c:ptCount val="1"/>
                      <c:pt idx="0">
                        <c:v>1942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0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3-1F78-45C3-86FA-8E5C20A2AEEB}"/>
                    </c:ext>
                  </c:extLst>
                </c:dPt>
                <c:dPt>
                  <c:idx val="1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4-1F78-45C3-86FA-8E5C20A2AEEB}"/>
                    </c:ext>
                  </c:extLst>
                </c:dPt>
                <c:dPt>
                  <c:idx val="2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5-1F78-45C3-86FA-8E5C20A2AEEB}"/>
                    </c:ext>
                  </c:extLst>
                </c:dPt>
                <c:dPt>
                  <c:idx val="3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6-1F78-45C3-86FA-8E5C20A2AEEB}"/>
                    </c:ext>
                  </c:extLst>
                </c:dPt>
                <c:dPt>
                  <c:idx val="4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7-1F78-45C3-86FA-8E5C20A2AEEB}"/>
                    </c:ext>
                  </c:extLst>
                </c:dPt>
                <c:dPt>
                  <c:idx val="5"/>
                  <c:invertIfNegative val="0"/>
                  <c:bubble3D val="0"/>
                  <c:spPr>
                    <a:solidFill>
                      <a:schemeClr val="accent5">
                        <a:lumMod val="75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9-1F78-45C3-86FA-8E5C20A2AEEB}"/>
                    </c:ext>
                  </c:extLst>
                </c:dPt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B-1F78-45C3-86FA-8E5C20A2AEEB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LE_TER!$M$6:$M$12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448823.75</c:v>
                      </c:pt>
                      <c:pt idx="1">
                        <c:v>464952.69</c:v>
                      </c:pt>
                      <c:pt idx="2">
                        <c:v>407923.58</c:v>
                      </c:pt>
                      <c:pt idx="3">
                        <c:v>413395.63</c:v>
                      </c:pt>
                      <c:pt idx="4">
                        <c:v>396604.86</c:v>
                      </c:pt>
                      <c:pt idx="5">
                        <c:v>349232.01</c:v>
                      </c:pt>
                      <c:pt idx="6">
                        <c:v>329528.2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1F78-45C3-86FA-8E5C20A2AEEB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LE_TER!$N$5</c15:sqref>
                        </c15:formulaRef>
                      </c:ext>
                    </c:extLst>
                    <c:strCache>
                      <c:ptCount val="1"/>
                      <c:pt idx="0">
                        <c:v>1952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LE_TER!$N$6:$N$12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91560.45</c:v>
                      </c:pt>
                      <c:pt idx="1">
                        <c:v>44302.06</c:v>
                      </c:pt>
                      <c:pt idx="2">
                        <c:v>71396.92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1F78-45C3-86FA-8E5C20A2AEEB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LE_TER!$O$5</c15:sqref>
                        </c15:formulaRef>
                      </c:ext>
                    </c:extLst>
                    <c:strCache>
                      <c:ptCount val="1"/>
                      <c:pt idx="0">
                        <c:v>1965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F-1F78-45C3-86FA-8E5C20A2AEEB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LE_TER!$O$6:$O$12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2266998.09</c:v>
                      </c:pt>
                      <c:pt idx="1">
                        <c:v>2176107.17</c:v>
                      </c:pt>
                      <c:pt idx="2">
                        <c:v>2342926.7400000002</c:v>
                      </c:pt>
                      <c:pt idx="3">
                        <c:v>1807826.87</c:v>
                      </c:pt>
                      <c:pt idx="4">
                        <c:v>1842246.33</c:v>
                      </c:pt>
                      <c:pt idx="5">
                        <c:v>1809313.16</c:v>
                      </c:pt>
                      <c:pt idx="6">
                        <c:v>1809313.16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1F78-45C3-86FA-8E5C20A2AEEB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LE_TER!$Q$5</c15:sqref>
                        </c15:formulaRef>
                      </c:ext>
                    </c:extLst>
                    <c:strCache>
                      <c:ptCount val="1"/>
                      <c:pt idx="0">
                        <c:v>1987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LE_TER!$Q$6:$Q$12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14239.5</c:v>
                      </c:pt>
                      <c:pt idx="2">
                        <c:v>8831.14</c:v>
                      </c:pt>
                      <c:pt idx="3">
                        <c:v>5885.66</c:v>
                      </c:pt>
                      <c:pt idx="4">
                        <c:v>8516.24</c:v>
                      </c:pt>
                      <c:pt idx="5">
                        <c:v>11426</c:v>
                      </c:pt>
                      <c:pt idx="6">
                        <c:v>8516.19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1F78-45C3-86FA-8E5C20A2AEEB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LE_TER!$R$5</c15:sqref>
                        </c15:formulaRef>
                      </c:ext>
                    </c:extLst>
                    <c:strCache>
                      <c:ptCount val="1"/>
                      <c:pt idx="0">
                        <c:v>971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3-1F78-45C3-86FA-8E5C20A2AEEB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LE_TER!$R$6:$R$12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14373.07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1F78-45C3-86FA-8E5C20A2AEEB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LE_TER!$S$5</c15:sqref>
                        </c15:formulaRef>
                      </c:ext>
                    </c:extLst>
                    <c:strCache>
                      <c:ptCount val="1"/>
                      <c:pt idx="0">
                        <c:v>6757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LE_TER!$S$6:$S$12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85289.55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1F78-45C3-86FA-8E5C20A2AEEB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LE_TER!$T$5</c15:sqref>
                        </c15:formulaRef>
                      </c:ext>
                    </c:extLst>
                    <c:strCache>
                      <c:ptCount val="1"/>
                      <c:pt idx="0">
                        <c:v>1979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LE_TER!$T$6:$T$12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18065.560000000001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22609.45</c:v>
                      </c:pt>
                      <c:pt idx="4">
                        <c:v>18046.27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1F78-45C3-86FA-8E5C20A2AEEB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LE_TER!$U$5</c15:sqref>
                        </c15:formulaRef>
                      </c:ext>
                    </c:extLst>
                    <c:strCache>
                      <c:ptCount val="1"/>
                      <c:pt idx="0">
                        <c:v>1953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LE_TER!$U$6:$U$12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91555.13</c:v>
                      </c:pt>
                      <c:pt idx="1">
                        <c:v>129504.15</c:v>
                      </c:pt>
                      <c:pt idx="2">
                        <c:v>101816.85</c:v>
                      </c:pt>
                      <c:pt idx="3">
                        <c:v>111598.72</c:v>
                      </c:pt>
                      <c:pt idx="4">
                        <c:v>102517.5</c:v>
                      </c:pt>
                      <c:pt idx="5">
                        <c:v>103930.8</c:v>
                      </c:pt>
                      <c:pt idx="6">
                        <c:v>103930.8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1F78-45C3-86FA-8E5C20A2AEEB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LE_TER!$V$5</c15:sqref>
                        </c15:formulaRef>
                      </c:ext>
                    </c:extLst>
                    <c:strCache>
                      <c:ptCount val="1"/>
                      <c:pt idx="0">
                        <c:v>1974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LE_TER!$V$6:$V$12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1309.42</c:v>
                      </c:pt>
                      <c:pt idx="1">
                        <c:v>1270.42</c:v>
                      </c:pt>
                      <c:pt idx="2">
                        <c:v>2134.42</c:v>
                      </c:pt>
                      <c:pt idx="3">
                        <c:v>2334.42</c:v>
                      </c:pt>
                      <c:pt idx="4">
                        <c:v>1254.42</c:v>
                      </c:pt>
                      <c:pt idx="5">
                        <c:v>1401</c:v>
                      </c:pt>
                      <c:pt idx="6">
                        <c:v>1401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1F78-45C3-86FA-8E5C20A2AEEB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LE_TER!$W$5</c15:sqref>
                        </c15:formulaRef>
                      </c:ext>
                    </c:extLst>
                    <c:strCache>
                      <c:ptCount val="1"/>
                      <c:pt idx="0">
                        <c:v>912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LE_TER!$W$6:$W$12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22903.34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1F78-45C3-86FA-8E5C20A2AEEB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LE_TER!$X$5</c15:sqref>
                        </c15:formulaRef>
                      </c:ext>
                    </c:extLst>
                    <c:strCache>
                      <c:ptCount val="1"/>
                      <c:pt idx="0">
                        <c:v>1978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LE_TER!$X$6:$X$12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9753.64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1F78-45C3-86FA-8E5C20A2AEEB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LE_TER!$Y$5</c15:sqref>
                        </c15:formulaRef>
                      </c:ext>
                    </c:extLst>
                    <c:strCache>
                      <c:ptCount val="1"/>
                      <c:pt idx="0">
                        <c:v>2986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LE_TER!$Y$6:$Y$12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86423.64</c:v>
                      </c:pt>
                      <c:pt idx="1">
                        <c:v>34990.949999999997</c:v>
                      </c:pt>
                      <c:pt idx="2">
                        <c:v>50324.27</c:v>
                      </c:pt>
                      <c:pt idx="3">
                        <c:v>49056.5</c:v>
                      </c:pt>
                      <c:pt idx="4">
                        <c:v>46128.06</c:v>
                      </c:pt>
                      <c:pt idx="5">
                        <c:v>11735.8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1F78-45C3-86FA-8E5C20A2AEEB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LE_TER!$Z$5</c15:sqref>
                        </c15:formulaRef>
                      </c:ext>
                    </c:extLst>
                    <c:strCache>
                      <c:ptCount val="1"/>
                      <c:pt idx="0">
                        <c:v>1902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LE_TER!$Z$6:$Z$12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19788.310000000001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1208.92</c:v>
                      </c:pt>
                      <c:pt idx="5">
                        <c:v>2514.63</c:v>
                      </c:pt>
                      <c:pt idx="6">
                        <c:v>10006.669999999998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1F78-45C3-86FA-8E5C20A2AEEB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LE_TER!$AA$5</c15:sqref>
                        </c15:formulaRef>
                      </c:ext>
                    </c:extLst>
                    <c:strCache>
                      <c:ptCount val="1"/>
                      <c:pt idx="0">
                        <c:v>409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LE_TER!$AA$6:$AA$12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1F78-45C3-86FA-8E5C20A2AEEB}"/>
                  </c:ext>
                </c:extLst>
              </c15:ser>
            </c15:filteredBarSeries>
          </c:ext>
        </c:extLst>
      </c:barChart>
      <c:dateAx>
        <c:axId val="209473455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crossAx val="2094734552"/>
        <c:crosses val="autoZero"/>
        <c:auto val="1"/>
        <c:lblOffset val="100"/>
        <c:baseTimeUnit val="months"/>
      </c:date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</c:plotArea>
    <c:plotVisOnly val="1"/>
    <c:dispBlanksAs val="span"/>
    <c:showDLblsOverMax val="1"/>
  </c:chart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833502652669603E-2"/>
          <c:y val="0.16231884057971013"/>
          <c:w val="0.95033299469466082"/>
          <c:h val="0.69245418235764011"/>
        </c:manualLayout>
      </c:layout>
      <c:barChart>
        <c:barDir val="col"/>
        <c:grouping val="clustered"/>
        <c:varyColors val="0"/>
        <c:ser>
          <c:idx val="9"/>
          <c:order val="9"/>
          <c:tx>
            <c:strRef>
              <c:f>LE_TER!$V$5</c:f>
              <c:strCache>
                <c:ptCount val="1"/>
                <c:pt idx="0">
                  <c:v>1974</c:v>
                </c:pt>
              </c:strCache>
              <c:extLst xmlns:c15="http://schemas.microsoft.com/office/drawing/2012/chart"/>
            </c:strRef>
          </c:tx>
          <c:spPr>
            <a:solidFill>
              <a:srgbClr val="00206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5020-4863-B481-662D504B8765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LE_TER!$L$6:$L$12</c:f>
              <c:numCache>
                <c:formatCode>mmm\-yy</c:formatCode>
                <c:ptCount val="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</c:numCache>
              <c:extLst xmlns:c15="http://schemas.microsoft.com/office/drawing/2012/chart"/>
            </c:numRef>
          </c:cat>
          <c:val>
            <c:numRef>
              <c:f>LE_TER!$V$6:$V$12</c:f>
              <c:numCache>
                <c:formatCode>#,##0</c:formatCode>
                <c:ptCount val="7"/>
                <c:pt idx="0">
                  <c:v>1309.42</c:v>
                </c:pt>
                <c:pt idx="1">
                  <c:v>1270.42</c:v>
                </c:pt>
                <c:pt idx="2">
                  <c:v>2134.42</c:v>
                </c:pt>
                <c:pt idx="3">
                  <c:v>2334.42</c:v>
                </c:pt>
                <c:pt idx="4">
                  <c:v>1254.42</c:v>
                </c:pt>
                <c:pt idx="5">
                  <c:v>1401</c:v>
                </c:pt>
                <c:pt idx="6">
                  <c:v>1401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5020-4863-B481-662D504B87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LE_TER!$M$5</c15:sqref>
                        </c15:formulaRef>
                      </c:ext>
                    </c:extLst>
                    <c:strCache>
                      <c:ptCount val="1"/>
                      <c:pt idx="0">
                        <c:v>1942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0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3-5020-4863-B481-662D504B8765}"/>
                    </c:ext>
                  </c:extLst>
                </c:dPt>
                <c:dPt>
                  <c:idx val="1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4-5020-4863-B481-662D504B8765}"/>
                    </c:ext>
                  </c:extLst>
                </c:dPt>
                <c:dPt>
                  <c:idx val="2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5-5020-4863-B481-662D504B8765}"/>
                    </c:ext>
                  </c:extLst>
                </c:dPt>
                <c:dPt>
                  <c:idx val="3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6-5020-4863-B481-662D504B8765}"/>
                    </c:ext>
                  </c:extLst>
                </c:dPt>
                <c:dPt>
                  <c:idx val="4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7-5020-4863-B481-662D504B8765}"/>
                    </c:ext>
                  </c:extLst>
                </c:dPt>
                <c:dPt>
                  <c:idx val="5"/>
                  <c:invertIfNegative val="0"/>
                  <c:bubble3D val="0"/>
                  <c:spPr>
                    <a:solidFill>
                      <a:schemeClr val="accent5">
                        <a:lumMod val="75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9-5020-4863-B481-662D504B8765}"/>
                    </c:ext>
                  </c:extLst>
                </c:dPt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B-5020-4863-B481-662D504B8765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LE_TER!$M$6:$M$12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448823.75</c:v>
                      </c:pt>
                      <c:pt idx="1">
                        <c:v>464952.69</c:v>
                      </c:pt>
                      <c:pt idx="2">
                        <c:v>407923.58</c:v>
                      </c:pt>
                      <c:pt idx="3">
                        <c:v>413395.63</c:v>
                      </c:pt>
                      <c:pt idx="4">
                        <c:v>396604.86</c:v>
                      </c:pt>
                      <c:pt idx="5">
                        <c:v>349232.01</c:v>
                      </c:pt>
                      <c:pt idx="6">
                        <c:v>329528.2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5020-4863-B481-662D504B876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LE_TER!$N$5</c15:sqref>
                        </c15:formulaRef>
                      </c:ext>
                    </c:extLst>
                    <c:strCache>
                      <c:ptCount val="1"/>
                      <c:pt idx="0">
                        <c:v>1952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LE_TER!$N$6:$N$12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91560.45</c:v>
                      </c:pt>
                      <c:pt idx="1">
                        <c:v>44302.06</c:v>
                      </c:pt>
                      <c:pt idx="2">
                        <c:v>71396.92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5020-4863-B481-662D504B876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LE_TER!$O$5</c15:sqref>
                        </c15:formulaRef>
                      </c:ext>
                    </c:extLst>
                    <c:strCache>
                      <c:ptCount val="1"/>
                      <c:pt idx="0">
                        <c:v>1965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F-5020-4863-B481-662D504B8765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LE_TER!$O$6:$O$12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2266998.09</c:v>
                      </c:pt>
                      <c:pt idx="1">
                        <c:v>2176107.17</c:v>
                      </c:pt>
                      <c:pt idx="2">
                        <c:v>2342926.7400000002</c:v>
                      </c:pt>
                      <c:pt idx="3">
                        <c:v>1807826.87</c:v>
                      </c:pt>
                      <c:pt idx="4">
                        <c:v>1842246.33</c:v>
                      </c:pt>
                      <c:pt idx="5">
                        <c:v>1809313.16</c:v>
                      </c:pt>
                      <c:pt idx="6">
                        <c:v>1809313.16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5020-4863-B481-662D504B876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LE_TER!$P$5</c15:sqref>
                        </c15:formulaRef>
                      </c:ext>
                    </c:extLst>
                    <c:strCache>
                      <c:ptCount val="1"/>
                      <c:pt idx="0">
                        <c:v>930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2-5020-4863-B481-662D504B8765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LE_TER!$P$6:$P$12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754204.73</c:v>
                      </c:pt>
                      <c:pt idx="1">
                        <c:v>867773.14</c:v>
                      </c:pt>
                      <c:pt idx="2">
                        <c:v>752709.09</c:v>
                      </c:pt>
                      <c:pt idx="3">
                        <c:v>1437216.85</c:v>
                      </c:pt>
                      <c:pt idx="4">
                        <c:v>1124884.5900000001</c:v>
                      </c:pt>
                      <c:pt idx="5">
                        <c:v>892451.49</c:v>
                      </c:pt>
                      <c:pt idx="6">
                        <c:v>809326.65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5020-4863-B481-662D504B8765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LE_TER!$Q$5</c15:sqref>
                        </c15:formulaRef>
                      </c:ext>
                    </c:extLst>
                    <c:strCache>
                      <c:ptCount val="1"/>
                      <c:pt idx="0">
                        <c:v>1987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LE_TER!$Q$6:$Q$12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14239.5</c:v>
                      </c:pt>
                      <c:pt idx="2">
                        <c:v>8831.14</c:v>
                      </c:pt>
                      <c:pt idx="3">
                        <c:v>5885.66</c:v>
                      </c:pt>
                      <c:pt idx="4">
                        <c:v>8516.24</c:v>
                      </c:pt>
                      <c:pt idx="5">
                        <c:v>11426</c:v>
                      </c:pt>
                      <c:pt idx="6">
                        <c:v>8516.19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5020-4863-B481-662D504B8765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LE_TER!$R$5</c15:sqref>
                        </c15:formulaRef>
                      </c:ext>
                    </c:extLst>
                    <c:strCache>
                      <c:ptCount val="1"/>
                      <c:pt idx="0">
                        <c:v>971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6-5020-4863-B481-662D504B8765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LE_TER!$R$6:$R$12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14373.07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5020-4863-B481-662D504B8765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LE_TER!$S$5</c15:sqref>
                        </c15:formulaRef>
                      </c:ext>
                    </c:extLst>
                    <c:strCache>
                      <c:ptCount val="1"/>
                      <c:pt idx="0">
                        <c:v>6757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LE_TER!$S$6:$S$12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85289.55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5020-4863-B481-662D504B8765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LE_TER!$T$5</c15:sqref>
                        </c15:formulaRef>
                      </c:ext>
                    </c:extLst>
                    <c:strCache>
                      <c:ptCount val="1"/>
                      <c:pt idx="0">
                        <c:v>1979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LE_TER!$T$6:$T$12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18065.560000000001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22609.45</c:v>
                      </c:pt>
                      <c:pt idx="4">
                        <c:v>18046.27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5020-4863-B481-662D504B8765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LE_TER!$U$5</c15:sqref>
                        </c15:formulaRef>
                      </c:ext>
                    </c:extLst>
                    <c:strCache>
                      <c:ptCount val="1"/>
                      <c:pt idx="0">
                        <c:v>1953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LE_TER!$U$6:$U$12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91555.13</c:v>
                      </c:pt>
                      <c:pt idx="1">
                        <c:v>129504.15</c:v>
                      </c:pt>
                      <c:pt idx="2">
                        <c:v>101816.85</c:v>
                      </c:pt>
                      <c:pt idx="3">
                        <c:v>111598.72</c:v>
                      </c:pt>
                      <c:pt idx="4">
                        <c:v>102517.5</c:v>
                      </c:pt>
                      <c:pt idx="5">
                        <c:v>103930.8</c:v>
                      </c:pt>
                      <c:pt idx="6">
                        <c:v>103930.8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5020-4863-B481-662D504B8765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LE_TER!$W$5</c15:sqref>
                        </c15:formulaRef>
                      </c:ext>
                    </c:extLst>
                    <c:strCache>
                      <c:ptCount val="1"/>
                      <c:pt idx="0">
                        <c:v>912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LE_TER!$W$6:$W$12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22903.34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5020-4863-B481-662D504B8765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LE_TER!$X$5</c15:sqref>
                        </c15:formulaRef>
                      </c:ext>
                    </c:extLst>
                    <c:strCache>
                      <c:ptCount val="1"/>
                      <c:pt idx="0">
                        <c:v>1978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LE_TER!$X$6:$X$12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9753.64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5020-4863-B481-662D504B8765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LE_TER!$Y$5</c15:sqref>
                        </c15:formulaRef>
                      </c:ext>
                    </c:extLst>
                    <c:strCache>
                      <c:ptCount val="1"/>
                      <c:pt idx="0">
                        <c:v>2986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LE_TER!$Y$6:$Y$12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86423.64</c:v>
                      </c:pt>
                      <c:pt idx="1">
                        <c:v>34990.949999999997</c:v>
                      </c:pt>
                      <c:pt idx="2">
                        <c:v>50324.27</c:v>
                      </c:pt>
                      <c:pt idx="3">
                        <c:v>49056.5</c:v>
                      </c:pt>
                      <c:pt idx="4">
                        <c:v>46128.06</c:v>
                      </c:pt>
                      <c:pt idx="5">
                        <c:v>11735.8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5020-4863-B481-662D504B8765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LE_TER!$Z$5</c15:sqref>
                        </c15:formulaRef>
                      </c:ext>
                    </c:extLst>
                    <c:strCache>
                      <c:ptCount val="1"/>
                      <c:pt idx="0">
                        <c:v>1902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LE_TER!$Z$6:$Z$12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19788.310000000001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1208.92</c:v>
                      </c:pt>
                      <c:pt idx="5">
                        <c:v>2514.63</c:v>
                      </c:pt>
                      <c:pt idx="6">
                        <c:v>10006.669999999998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5020-4863-B481-662D504B8765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LE_TER!$AA$5</c15:sqref>
                        </c15:formulaRef>
                      </c:ext>
                    </c:extLst>
                    <c:strCache>
                      <c:ptCount val="1"/>
                      <c:pt idx="0">
                        <c:v>409</c:v>
                      </c:pt>
                    </c:strCache>
                  </c:strRef>
                </c:tx>
                <c:invertIfNegative val="0"/>
                <c:dLbls>
                  <c:delete val="1"/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LE_TER!$AA$6:$AA$12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5020-4863-B481-662D504B8765}"/>
                  </c:ext>
                </c:extLst>
              </c15:ser>
            </c15:filteredBarSeries>
          </c:ext>
        </c:extLst>
      </c:barChart>
      <c:dateAx>
        <c:axId val="209473455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crossAx val="2094734552"/>
        <c:crosses val="autoZero"/>
        <c:auto val="1"/>
        <c:lblOffset val="100"/>
        <c:baseTimeUnit val="months"/>
      </c:date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</c:plotArea>
    <c:plotVisOnly val="1"/>
    <c:dispBlanksAs val="span"/>
    <c:showDLblsOverMax val="1"/>
  </c:chart>
  <c:externalData r:id="rId1">
    <c:autoUpdate val="0"/>
  </c:externalData>
  <c:userShapes r:id="rId2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833502652669603E-2"/>
          <c:y val="0.16231884057971013"/>
          <c:w val="0.95033299469466082"/>
          <c:h val="0.69245418235764011"/>
        </c:manualLayout>
      </c:layout>
      <c:barChart>
        <c:barDir val="col"/>
        <c:grouping val="clustered"/>
        <c:varyColors val="0"/>
        <c:ser>
          <c:idx val="8"/>
          <c:order val="8"/>
          <c:tx>
            <c:strRef>
              <c:f>LE_TER!$U$5</c:f>
              <c:strCache>
                <c:ptCount val="1"/>
                <c:pt idx="0">
                  <c:v>1953</c:v>
                </c:pt>
              </c:strCache>
              <c:extLst xmlns:c15="http://schemas.microsoft.com/office/drawing/2012/chart"/>
            </c:strRef>
          </c:tx>
          <c:spPr>
            <a:solidFill>
              <a:srgbClr val="00206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2007-48CC-9A6C-838906D985AF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numRef>
              <c:f>LE_TER!$L$6:$L$12</c:f>
              <c:numCache>
                <c:formatCode>mmm\-yy</c:formatCode>
                <c:ptCount val="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</c:numCache>
              <c:extLst xmlns:c15="http://schemas.microsoft.com/office/drawing/2012/chart"/>
            </c:numRef>
          </c:cat>
          <c:val>
            <c:numRef>
              <c:f>LE_TER!$U$6:$U$12</c:f>
              <c:numCache>
                <c:formatCode>#,##0</c:formatCode>
                <c:ptCount val="7"/>
                <c:pt idx="0">
                  <c:v>91555.13</c:v>
                </c:pt>
                <c:pt idx="1">
                  <c:v>129504.15</c:v>
                </c:pt>
                <c:pt idx="2">
                  <c:v>101816.85</c:v>
                </c:pt>
                <c:pt idx="3">
                  <c:v>111598.72</c:v>
                </c:pt>
                <c:pt idx="4">
                  <c:v>102517.5</c:v>
                </c:pt>
                <c:pt idx="5">
                  <c:v>103930.8</c:v>
                </c:pt>
                <c:pt idx="6">
                  <c:v>103930.8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2007-48CC-9A6C-838906D985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LE_TER!$M$5</c15:sqref>
                        </c15:formulaRef>
                      </c:ext>
                    </c:extLst>
                    <c:strCache>
                      <c:ptCount val="1"/>
                      <c:pt idx="0">
                        <c:v>1942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0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3-2007-48CC-9A6C-838906D985AF}"/>
                    </c:ext>
                  </c:extLst>
                </c:dPt>
                <c:dPt>
                  <c:idx val="1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4-2007-48CC-9A6C-838906D985AF}"/>
                    </c:ext>
                  </c:extLst>
                </c:dPt>
                <c:dPt>
                  <c:idx val="2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5-2007-48CC-9A6C-838906D985AF}"/>
                    </c:ext>
                  </c:extLst>
                </c:dPt>
                <c:dPt>
                  <c:idx val="3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6-2007-48CC-9A6C-838906D985AF}"/>
                    </c:ext>
                  </c:extLst>
                </c:dPt>
                <c:dPt>
                  <c:idx val="4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7-2007-48CC-9A6C-838906D985AF}"/>
                    </c:ext>
                  </c:extLst>
                </c:dPt>
                <c:dPt>
                  <c:idx val="5"/>
                  <c:invertIfNegative val="0"/>
                  <c:bubble3D val="0"/>
                  <c:spPr>
                    <a:solidFill>
                      <a:schemeClr val="accent5">
                        <a:lumMod val="75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9-2007-48CC-9A6C-838906D985AF}"/>
                    </c:ext>
                  </c:extLst>
                </c:dPt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>
                    <c:ext xmlns:c16="http://schemas.microsoft.com/office/drawing/2014/chart" uri="{C3380CC4-5D6E-409C-BE32-E72D297353CC}">
                      <c16:uniqueId val="{0000000B-2007-48CC-9A6C-838906D985AF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LE_TER!$M$6:$M$12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448823.75</c:v>
                      </c:pt>
                      <c:pt idx="1">
                        <c:v>464952.69</c:v>
                      </c:pt>
                      <c:pt idx="2">
                        <c:v>407923.58</c:v>
                      </c:pt>
                      <c:pt idx="3">
                        <c:v>413395.63</c:v>
                      </c:pt>
                      <c:pt idx="4">
                        <c:v>396604.86</c:v>
                      </c:pt>
                      <c:pt idx="5">
                        <c:v>349232.01</c:v>
                      </c:pt>
                      <c:pt idx="6">
                        <c:v>329528.2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2007-48CC-9A6C-838906D985AF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LE_TER!$N$5</c15:sqref>
                        </c15:formulaRef>
                      </c:ext>
                    </c:extLst>
                    <c:strCache>
                      <c:ptCount val="1"/>
                      <c:pt idx="0">
                        <c:v>1952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LE_TER!$N$6:$N$12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91560.45</c:v>
                      </c:pt>
                      <c:pt idx="1">
                        <c:v>44302.06</c:v>
                      </c:pt>
                      <c:pt idx="2">
                        <c:v>71396.92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2007-48CC-9A6C-838906D985AF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LE_TER!$O$5</c15:sqref>
                        </c15:formulaRef>
                      </c:ext>
                    </c:extLst>
                    <c:strCache>
                      <c:ptCount val="1"/>
                      <c:pt idx="0">
                        <c:v>1965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F-2007-48CC-9A6C-838906D985AF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LE_TER!$O$6:$O$12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2266998.09</c:v>
                      </c:pt>
                      <c:pt idx="1">
                        <c:v>2176107.17</c:v>
                      </c:pt>
                      <c:pt idx="2">
                        <c:v>2342926.7400000002</c:v>
                      </c:pt>
                      <c:pt idx="3">
                        <c:v>1807826.87</c:v>
                      </c:pt>
                      <c:pt idx="4">
                        <c:v>1842246.33</c:v>
                      </c:pt>
                      <c:pt idx="5">
                        <c:v>1809313.16</c:v>
                      </c:pt>
                      <c:pt idx="6">
                        <c:v>1809313.16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2007-48CC-9A6C-838906D985A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LE_TER!$P$5</c15:sqref>
                        </c15:formulaRef>
                      </c:ext>
                    </c:extLst>
                    <c:strCache>
                      <c:ptCount val="1"/>
                      <c:pt idx="0">
                        <c:v>930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2-2007-48CC-9A6C-838906D985AF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LE_TER!$P$6:$P$12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754204.73</c:v>
                      </c:pt>
                      <c:pt idx="1">
                        <c:v>867773.14</c:v>
                      </c:pt>
                      <c:pt idx="2">
                        <c:v>752709.09</c:v>
                      </c:pt>
                      <c:pt idx="3">
                        <c:v>1437216.85</c:v>
                      </c:pt>
                      <c:pt idx="4">
                        <c:v>1124884.5900000001</c:v>
                      </c:pt>
                      <c:pt idx="5">
                        <c:v>892451.49</c:v>
                      </c:pt>
                      <c:pt idx="6">
                        <c:v>809326.65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2007-48CC-9A6C-838906D985AF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LE_TER!$Q$5</c15:sqref>
                        </c15:formulaRef>
                      </c:ext>
                    </c:extLst>
                    <c:strCache>
                      <c:ptCount val="1"/>
                      <c:pt idx="0">
                        <c:v>1987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LE_TER!$Q$6:$Q$12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14239.5</c:v>
                      </c:pt>
                      <c:pt idx="2">
                        <c:v>8831.14</c:v>
                      </c:pt>
                      <c:pt idx="3">
                        <c:v>5885.66</c:v>
                      </c:pt>
                      <c:pt idx="4">
                        <c:v>8516.24</c:v>
                      </c:pt>
                      <c:pt idx="5">
                        <c:v>11426</c:v>
                      </c:pt>
                      <c:pt idx="6">
                        <c:v>8516.19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2007-48CC-9A6C-838906D985AF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LE_TER!$R$5</c15:sqref>
                        </c15:formulaRef>
                      </c:ext>
                    </c:extLst>
                    <c:strCache>
                      <c:ptCount val="1"/>
                      <c:pt idx="0">
                        <c:v>971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6-2007-48CC-9A6C-838906D985AF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LE_TER!$R$6:$R$12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14373.07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2007-48CC-9A6C-838906D985AF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LE_TER!$S$5</c15:sqref>
                        </c15:formulaRef>
                      </c:ext>
                    </c:extLst>
                    <c:strCache>
                      <c:ptCount val="1"/>
                      <c:pt idx="0">
                        <c:v>6757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LE_TER!$S$6:$S$12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85289.55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2007-48CC-9A6C-838906D985AF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LE_TER!$T$5</c15:sqref>
                        </c15:formulaRef>
                      </c:ext>
                    </c:extLst>
                    <c:strCache>
                      <c:ptCount val="1"/>
                      <c:pt idx="0">
                        <c:v>1979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LE_TER!$T$6:$T$12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18065.560000000001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22609.45</c:v>
                      </c:pt>
                      <c:pt idx="4">
                        <c:v>18046.27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2007-48CC-9A6C-838906D985AF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LE_TER!$V$5</c15:sqref>
                        </c15:formulaRef>
                      </c:ext>
                    </c:extLst>
                    <c:strCache>
                      <c:ptCount val="1"/>
                      <c:pt idx="0">
                        <c:v>1974</c:v>
                      </c:pt>
                    </c:strCache>
                  </c:strRef>
                </c:tx>
                <c:spPr>
                  <a:solidFill>
                    <a:srgbClr val="002060"/>
                  </a:solidFill>
                </c:spPr>
                <c:invertIfNegative val="0"/>
                <c:dPt>
                  <c:idx val="6"/>
                  <c:invertIfNegative val="0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B-2007-48CC-9A6C-838906D985AF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LE_TER!$V$6:$V$12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1309.42</c:v>
                      </c:pt>
                      <c:pt idx="1">
                        <c:v>1270.42</c:v>
                      </c:pt>
                      <c:pt idx="2">
                        <c:v>2134.42</c:v>
                      </c:pt>
                      <c:pt idx="3">
                        <c:v>2334.42</c:v>
                      </c:pt>
                      <c:pt idx="4">
                        <c:v>1254.42</c:v>
                      </c:pt>
                      <c:pt idx="5">
                        <c:v>1401</c:v>
                      </c:pt>
                      <c:pt idx="6">
                        <c:v>1401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2007-48CC-9A6C-838906D985AF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LE_TER!$W$5</c15:sqref>
                        </c15:formulaRef>
                      </c:ext>
                    </c:extLst>
                    <c:strCache>
                      <c:ptCount val="1"/>
                      <c:pt idx="0">
                        <c:v>912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LE_TER!$W$6:$W$12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22903.34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2007-48CC-9A6C-838906D985AF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LE_TER!$X$5</c15:sqref>
                        </c15:formulaRef>
                      </c:ext>
                    </c:extLst>
                    <c:strCache>
                      <c:ptCount val="1"/>
                      <c:pt idx="0">
                        <c:v>1978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LE_TER!$X$6:$X$12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9753.64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2007-48CC-9A6C-838906D985AF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LE_TER!$Y$5</c15:sqref>
                        </c15:formulaRef>
                      </c:ext>
                    </c:extLst>
                    <c:strCache>
                      <c:ptCount val="1"/>
                      <c:pt idx="0">
                        <c:v>2986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LE_TER!$Y$6:$Y$12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86423.64</c:v>
                      </c:pt>
                      <c:pt idx="1">
                        <c:v>34990.949999999997</c:v>
                      </c:pt>
                      <c:pt idx="2">
                        <c:v>50324.27</c:v>
                      </c:pt>
                      <c:pt idx="3">
                        <c:v>49056.5</c:v>
                      </c:pt>
                      <c:pt idx="4">
                        <c:v>46128.06</c:v>
                      </c:pt>
                      <c:pt idx="5">
                        <c:v>11735.8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2007-48CC-9A6C-838906D985AF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LE_TER!$Z$5</c15:sqref>
                        </c15:formulaRef>
                      </c:ext>
                    </c:extLst>
                    <c:strCache>
                      <c:ptCount val="1"/>
                      <c:pt idx="0">
                        <c:v>1902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LE_TER!$Z$6:$Z$12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19788.310000000001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1208.92</c:v>
                      </c:pt>
                      <c:pt idx="5">
                        <c:v>2514.63</c:v>
                      </c:pt>
                      <c:pt idx="6">
                        <c:v>10006.669999999998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2007-48CC-9A6C-838906D985AF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LE_TER!$AA$5</c15:sqref>
                        </c15:formulaRef>
                      </c:ext>
                    </c:extLst>
                    <c:strCache>
                      <c:ptCount val="1"/>
                      <c:pt idx="0">
                        <c:v>409</c:v>
                      </c:pt>
                    </c:strCache>
                  </c:strRef>
                </c:tx>
                <c:invertIfNegative val="0"/>
                <c:dLbls>
                  <c:delete val="1"/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LE_TER!$L$6:$L$12</c15:sqref>
                        </c15:formulaRef>
                      </c:ext>
                    </c:extLst>
                    <c:numCache>
                      <c:formatCode>mmm\-yy</c:formatCode>
                      <c:ptCount val="7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LE_TER!$AA$6:$AA$12</c15:sqref>
                        </c15:formulaRef>
                      </c:ext>
                    </c:extLst>
                    <c:numCache>
                      <c:formatCode>#,##0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2007-48CC-9A6C-838906D985AF}"/>
                  </c:ext>
                </c:extLst>
              </c15:ser>
            </c15:filteredBarSeries>
          </c:ext>
        </c:extLst>
      </c:barChart>
      <c:dateAx>
        <c:axId val="209473455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crossAx val="2094734552"/>
        <c:crosses val="autoZero"/>
        <c:auto val="1"/>
        <c:lblOffset val="100"/>
        <c:baseTimeUnit val="months"/>
      </c:date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</c:plotArea>
    <c:plotVisOnly val="1"/>
    <c:dispBlanksAs val="span"/>
    <c:showDLblsOverMax val="1"/>
  </c:chart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0.01018</cdr:x>
      <cdr:y>0.04783</cdr:y>
    </cdr:from>
    <cdr:to>
      <cdr:x>0.10346</cdr:x>
      <cdr:y>0.23913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57150" y="104775"/>
          <a:ext cx="523875" cy="4191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0.01018</cdr:x>
      <cdr:y>0.04783</cdr:y>
    </cdr:from>
    <cdr:to>
      <cdr:x>0.10346</cdr:x>
      <cdr:y>0.23913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57150" y="104775"/>
          <a:ext cx="523875" cy="4191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0.01018</cdr:x>
      <cdr:y>0.04783</cdr:y>
    </cdr:from>
    <cdr:to>
      <cdr:x>0.10346</cdr:x>
      <cdr:y>0.23913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57150" y="104775"/>
          <a:ext cx="523875" cy="4191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0.01018</cdr:x>
      <cdr:y>0.04783</cdr:y>
    </cdr:from>
    <cdr:to>
      <cdr:x>0.10346</cdr:x>
      <cdr:y>0.23913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57150" y="104775"/>
          <a:ext cx="523875" cy="4191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0.01018</cdr:x>
      <cdr:y>0.04783</cdr:y>
    </cdr:from>
    <cdr:to>
      <cdr:x>0.10346</cdr:x>
      <cdr:y>0.23913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57150" y="104775"/>
          <a:ext cx="523875" cy="4191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76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08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015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7124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8007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5647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0082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46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519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074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442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728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712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5588" y="365125"/>
            <a:ext cx="7928212" cy="1325563"/>
          </a:xfrm>
          <a:prstGeom prst="rect">
            <a:avLst/>
          </a:prstGeom>
        </p:spPr>
        <p:txBody>
          <a:bodyPr/>
          <a:lstStyle>
            <a:lvl1pPr algn="r">
              <a:defRPr sz="4000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723734" y="2253445"/>
            <a:ext cx="5035621" cy="3997325"/>
          </a:xfrm>
          <a:prstGeom prst="rect">
            <a:avLst/>
          </a:prstGeom>
        </p:spPr>
        <p:txBody>
          <a:bodyPr/>
          <a:lstStyle>
            <a:lvl1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>
          <a:xfrm>
            <a:off x="6249988" y="2282305"/>
            <a:ext cx="5103812" cy="3997325"/>
          </a:xfrm>
          <a:prstGeom prst="rect">
            <a:avLst/>
          </a:prstGeom>
        </p:spPr>
        <p:txBody>
          <a:bodyPr/>
          <a:lstStyle>
            <a:lvl1pPr>
              <a:buClr>
                <a:srgbClr val="004876"/>
              </a:buClr>
              <a:defRPr>
                <a:solidFill>
                  <a:srgbClr val="575757"/>
                </a:solidFill>
              </a:defRPr>
            </a:lvl1pPr>
            <a:lvl2pPr>
              <a:buClr>
                <a:srgbClr val="004876"/>
              </a:buClr>
              <a:defRPr>
                <a:solidFill>
                  <a:srgbClr val="575757"/>
                </a:solidFill>
              </a:defRPr>
            </a:lvl2pPr>
            <a:lvl3pPr>
              <a:buClr>
                <a:srgbClr val="004876"/>
              </a:buClr>
              <a:defRPr>
                <a:solidFill>
                  <a:srgbClr val="575757"/>
                </a:solidFill>
              </a:defRPr>
            </a:lvl3pPr>
            <a:lvl4pPr>
              <a:buClr>
                <a:srgbClr val="004876"/>
              </a:buClr>
              <a:defRPr>
                <a:solidFill>
                  <a:srgbClr val="575757"/>
                </a:solidFill>
              </a:defRPr>
            </a:lvl4pPr>
            <a:lvl5pPr>
              <a:buClr>
                <a:srgbClr val="004876"/>
              </a:buClr>
              <a:defRPr>
                <a:solidFill>
                  <a:srgbClr val="575757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730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811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33484" y="2753483"/>
            <a:ext cx="5630838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876004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5371" y="2548767"/>
            <a:ext cx="5617191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761341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98292" y="365125"/>
            <a:ext cx="7955507" cy="1325563"/>
          </a:xfrm>
          <a:prstGeom prst="rect">
            <a:avLst/>
          </a:prstGeom>
        </p:spPr>
        <p:txBody>
          <a:bodyPr/>
          <a:lstStyle>
            <a:lvl1pPr algn="r"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74990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487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838200" y="2033588"/>
            <a:ext cx="10515600" cy="3643312"/>
          </a:xfrm>
          <a:prstGeom prst="rect">
            <a:avLst/>
          </a:prstGeom>
        </p:spPr>
        <p:txBody>
          <a:bodyPr/>
          <a:lstStyle>
            <a:lvl1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4876"/>
              </a:buClr>
              <a:defRPr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08361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838200" y="2087563"/>
            <a:ext cx="10515600" cy="3617912"/>
          </a:xfrm>
          <a:prstGeom prst="rect">
            <a:avLst/>
          </a:prstGeom>
        </p:spPr>
        <p:txBody>
          <a:bodyPr/>
          <a:lstStyle>
            <a:lvl1pPr>
              <a:buClr>
                <a:srgbClr val="009FE3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9FE3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9FE3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9FE3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9FE3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30914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2665" y="2862665"/>
            <a:ext cx="5603544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19325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0779" y="2767131"/>
            <a:ext cx="5644487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501343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6314" y="2685245"/>
            <a:ext cx="519411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4811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712540"/>
            <a:ext cx="5385179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79973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9836" y="2876313"/>
            <a:ext cx="5767316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20060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2665" y="2876313"/>
            <a:ext cx="5535305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50651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8075" y="2930904"/>
            <a:ext cx="5398826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17817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2665" y="2889960"/>
            <a:ext cx="5548953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18740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6188" y="2999143"/>
            <a:ext cx="5699078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240716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6188" y="2862665"/>
            <a:ext cx="5712725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655496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9018" y="2889960"/>
            <a:ext cx="5535304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379797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3484" y="2944551"/>
            <a:ext cx="5767316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94165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3484" y="2985495"/>
            <a:ext cx="5521656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7368100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4427" y="3067382"/>
            <a:ext cx="5671782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962318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5587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84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3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651" r:id="rId13"/>
    <p:sldLayoutId id="2147483652" r:id="rId14"/>
    <p:sldLayoutId id="2147483653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  <p:sldLayoutId id="2147483661" r:id="rId22"/>
    <p:sldLayoutId id="2147483662" r:id="rId23"/>
    <p:sldLayoutId id="2147483663" r:id="rId24"/>
    <p:sldLayoutId id="2147483664" r:id="rId25"/>
    <p:sldLayoutId id="2147483665" r:id="rId26"/>
    <p:sldLayoutId id="2147483666" r:id="rId27"/>
    <p:sldLayoutId id="2147483667" r:id="rId28"/>
    <p:sldLayoutId id="2147483668" r:id="rId29"/>
    <p:sldLayoutId id="2147483669" r:id="rId30"/>
    <p:sldLayoutId id="2147483670" r:id="rId31"/>
    <p:sldLayoutId id="2147483671" r:id="rId32"/>
    <p:sldLayoutId id="2147483672" r:id="rId3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74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5.xml"/><Relationship Id="rId7" Type="http://schemas.openxmlformats.org/officeDocument/2006/relationships/slide" Target="slide7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slide" Target="slide17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261959" y="1982025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REMUNERAÇÃO VARIÁVEL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0" name="Text 1"/>
          <p:cNvSpPr/>
          <p:nvPr/>
        </p:nvSpPr>
        <p:spPr>
          <a:xfrm>
            <a:off x="261959" y="2484945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de Junho / 2026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11" name="Text 2"/>
          <p:cNvSpPr/>
          <p:nvPr/>
        </p:nvSpPr>
        <p:spPr>
          <a:xfrm>
            <a:off x="261959" y="3399345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de Separação — GPA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12" name="Text 3"/>
          <p:cNvSpPr/>
          <p:nvPr/>
        </p:nvSpPr>
        <p:spPr>
          <a:xfrm>
            <a:off x="261959" y="3856545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expressiva de </a:t>
            </a:r>
            <a:r>
              <a:rPr lang="en-US" sz="1400" i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3" name="Shape 4"/>
          <p:cNvSpPr/>
          <p:nvPr/>
        </p:nvSpPr>
        <p:spPr>
          <a:xfrm>
            <a:off x="261959" y="4405185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808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926636" y="182879"/>
            <a:ext cx="65812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Regra do Programa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239716" y="1600199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</a:t>
            </a:r>
            <a:r>
              <a:rPr lang="en-US" sz="15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18/05/2026 (CD1942) e demais CDs apartir de 17/06/2026, Colaboradores da separação recebem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premiação financeira vinculada ao volume diário de caixas separadas.</a:t>
            </a:r>
            <a:endParaRPr lang="en-US" sz="1500" dirty="0"/>
          </a:p>
        </p:txBody>
      </p:sp>
      <p:sp>
        <p:nvSpPr>
          <p:cNvPr id="17" name="Shape 2"/>
          <p:cNvSpPr/>
          <p:nvPr/>
        </p:nvSpPr>
        <p:spPr>
          <a:xfrm>
            <a:off x="331156" y="2704011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18" name="Text 3"/>
          <p:cNvSpPr/>
          <p:nvPr/>
        </p:nvSpPr>
        <p:spPr>
          <a:xfrm>
            <a:off x="331156" y="2338251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1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9" name="Text 4"/>
          <p:cNvSpPr/>
          <p:nvPr/>
        </p:nvSpPr>
        <p:spPr>
          <a:xfrm>
            <a:off x="709978" y="3634741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— 950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caixas/dia – CD 1965 e CD1942</a:t>
            </a:r>
            <a:endParaRPr lang="en-US" sz="1700" dirty="0"/>
          </a:p>
        </p:txBody>
      </p:sp>
      <p:sp>
        <p:nvSpPr>
          <p:cNvPr id="20" name="Text 5"/>
          <p:cNvSpPr/>
          <p:nvPr/>
        </p:nvSpPr>
        <p:spPr>
          <a:xfrm>
            <a:off x="502912" y="2606039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R$ 0,04</a:t>
            </a:r>
            <a:endParaRPr lang="en-US" sz="5200" dirty="0"/>
          </a:p>
        </p:txBody>
      </p:sp>
      <p:sp>
        <p:nvSpPr>
          <p:cNvPr id="21" name="Text 6"/>
          <p:cNvSpPr/>
          <p:nvPr/>
        </p:nvSpPr>
        <p:spPr>
          <a:xfrm>
            <a:off x="3257236" y="303384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caixa excedente</a:t>
            </a:r>
            <a:endParaRPr lang="en-US" sz="1300" dirty="0"/>
          </a:p>
        </p:txBody>
      </p:sp>
      <p:sp>
        <p:nvSpPr>
          <p:cNvPr id="22" name="Shape 7"/>
          <p:cNvSpPr/>
          <p:nvPr/>
        </p:nvSpPr>
        <p:spPr>
          <a:xfrm>
            <a:off x="5908996" y="2704011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3214D"/>
          </a:solidFill>
          <a:ln/>
        </p:spPr>
      </p:sp>
      <p:sp>
        <p:nvSpPr>
          <p:cNvPr id="23" name="Text 8"/>
          <p:cNvSpPr/>
          <p:nvPr/>
        </p:nvSpPr>
        <p:spPr>
          <a:xfrm>
            <a:off x="5908996" y="2315391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2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7" name="Text 12"/>
          <p:cNvSpPr/>
          <p:nvPr/>
        </p:nvSpPr>
        <p:spPr>
          <a:xfrm>
            <a:off x="239716" y="598931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</a:t>
            </a: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elegíveis no período </a:t>
            </a:r>
            <a:r>
              <a:rPr lang="en-US" sz="13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 em todas as Cds </a:t>
            </a: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(18/05 – 30/06/2026)</a:t>
            </a:r>
            <a:endParaRPr lang="en-US" sz="1300" dirty="0"/>
          </a:p>
        </p:txBody>
      </p:sp>
      <p:sp>
        <p:nvSpPr>
          <p:cNvPr id="28" name="Text 4"/>
          <p:cNvSpPr/>
          <p:nvPr/>
        </p:nvSpPr>
        <p:spPr>
          <a:xfrm>
            <a:off x="709978" y="3980907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 caixas/dia – CD 930</a:t>
            </a:r>
            <a:endParaRPr lang="en-US" sz="1700" dirty="0"/>
          </a:p>
        </p:txBody>
      </p:sp>
      <p:sp>
        <p:nvSpPr>
          <p:cNvPr id="29" name="Text 4"/>
          <p:cNvSpPr/>
          <p:nvPr/>
        </p:nvSpPr>
        <p:spPr>
          <a:xfrm>
            <a:off x="709978" y="4343401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1175 caixas/dia – CD409 e 1953</a:t>
            </a:r>
            <a:endParaRPr lang="en-US" sz="1700" dirty="0"/>
          </a:p>
        </p:txBody>
      </p:sp>
      <p:sp>
        <p:nvSpPr>
          <p:cNvPr id="30" name="Text 4"/>
          <p:cNvSpPr/>
          <p:nvPr/>
        </p:nvSpPr>
        <p:spPr>
          <a:xfrm>
            <a:off x="709978" y="4754881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 caixas/dia – CD 1974</a:t>
            </a:r>
            <a:endParaRPr lang="en-US" sz="1700" dirty="0"/>
          </a:p>
        </p:txBody>
      </p:sp>
      <p:sp>
        <p:nvSpPr>
          <p:cNvPr id="31" name="Text 4"/>
          <p:cNvSpPr/>
          <p:nvPr/>
        </p:nvSpPr>
        <p:spPr>
          <a:xfrm>
            <a:off x="709978" y="5122817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1255 caixas/dia – CD 1979</a:t>
            </a:r>
            <a:endParaRPr lang="en-US" sz="1700" dirty="0"/>
          </a:p>
        </p:txBody>
      </p:sp>
      <p:sp>
        <p:nvSpPr>
          <p:cNvPr id="32" name="Text 4"/>
          <p:cNvSpPr/>
          <p:nvPr/>
        </p:nvSpPr>
        <p:spPr>
          <a:xfrm>
            <a:off x="6327007" y="365433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1050   caixas/dia – CD 1965 e CD1942</a:t>
            </a:r>
            <a:endParaRPr lang="en-US" sz="1700" dirty="0"/>
          </a:p>
        </p:txBody>
      </p:sp>
      <p:sp>
        <p:nvSpPr>
          <p:cNvPr id="33" name="Text 5"/>
          <p:cNvSpPr/>
          <p:nvPr/>
        </p:nvSpPr>
        <p:spPr>
          <a:xfrm>
            <a:off x="6080752" y="2625636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</a:t>
            </a:r>
            <a:r>
              <a:rPr lang="en-US" sz="5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</a:t>
            </a:r>
            <a:endParaRPr lang="en-US" sz="5200" dirty="0"/>
          </a:p>
        </p:txBody>
      </p:sp>
      <p:sp>
        <p:nvSpPr>
          <p:cNvPr id="34" name="Text 6"/>
          <p:cNvSpPr/>
          <p:nvPr/>
        </p:nvSpPr>
        <p:spPr>
          <a:xfrm>
            <a:off x="8835076" y="3053443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caixa excedente</a:t>
            </a:r>
            <a:endParaRPr lang="en-US" sz="1300" dirty="0"/>
          </a:p>
        </p:txBody>
      </p:sp>
      <p:sp>
        <p:nvSpPr>
          <p:cNvPr id="35" name="Text 4"/>
          <p:cNvSpPr/>
          <p:nvPr/>
        </p:nvSpPr>
        <p:spPr>
          <a:xfrm>
            <a:off x="6287818" y="40005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1110 caixas/dia – CD 930</a:t>
            </a:r>
            <a:endParaRPr lang="en-US" sz="1700" dirty="0"/>
          </a:p>
        </p:txBody>
      </p:sp>
      <p:sp>
        <p:nvSpPr>
          <p:cNvPr id="36" name="Text 4"/>
          <p:cNvSpPr/>
          <p:nvPr/>
        </p:nvSpPr>
        <p:spPr>
          <a:xfrm>
            <a:off x="6287818" y="436299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1175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1275 caixas/dia – CD409 e 1953</a:t>
            </a:r>
            <a:endParaRPr lang="en-US" sz="1700" dirty="0"/>
          </a:p>
        </p:txBody>
      </p:sp>
      <p:sp>
        <p:nvSpPr>
          <p:cNvPr id="37" name="Text 4"/>
          <p:cNvSpPr/>
          <p:nvPr/>
        </p:nvSpPr>
        <p:spPr>
          <a:xfrm>
            <a:off x="6287818" y="477447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1350 caixas/dia – CD 1974</a:t>
            </a:r>
            <a:endParaRPr lang="en-US" sz="1700" dirty="0"/>
          </a:p>
        </p:txBody>
      </p:sp>
      <p:sp>
        <p:nvSpPr>
          <p:cNvPr id="38" name="Text 4"/>
          <p:cNvSpPr/>
          <p:nvPr/>
        </p:nvSpPr>
        <p:spPr>
          <a:xfrm>
            <a:off x="6287818" y="514241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1255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1355 caixas/dia – CD 1979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5288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503696" y="301509"/>
            <a:ext cx="625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Consolidados</a:t>
            </a:r>
            <a:endParaRPr lang="en-US" sz="3000" dirty="0"/>
          </a:p>
        </p:txBody>
      </p:sp>
      <p:sp>
        <p:nvSpPr>
          <p:cNvPr id="29" name="Text 1"/>
          <p:cNvSpPr/>
          <p:nvPr/>
        </p:nvSpPr>
        <p:spPr>
          <a:xfrm>
            <a:off x="289145" y="162738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18/05 a 30/06/2026</a:t>
            </a:r>
            <a:endParaRPr lang="en-US" sz="1400" dirty="0"/>
          </a:p>
        </p:txBody>
      </p:sp>
      <p:sp>
        <p:nvSpPr>
          <p:cNvPr id="30" name="Shape 2"/>
          <p:cNvSpPr/>
          <p:nvPr/>
        </p:nvSpPr>
        <p:spPr>
          <a:xfrm>
            <a:off x="302861" y="2496069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1" name="Text 3"/>
          <p:cNvSpPr/>
          <p:nvPr/>
        </p:nvSpPr>
        <p:spPr>
          <a:xfrm>
            <a:off x="302861" y="2816109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154</a:t>
            </a:r>
            <a:endParaRPr lang="en-US" sz="4000" dirty="0"/>
          </a:p>
        </p:txBody>
      </p:sp>
      <p:sp>
        <p:nvSpPr>
          <p:cNvPr id="32" name="Text 4"/>
          <p:cNvSpPr/>
          <p:nvPr/>
        </p:nvSpPr>
        <p:spPr>
          <a:xfrm>
            <a:off x="289145" y="3776229"/>
            <a:ext cx="32141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que fizeram acima de 450cx atingiram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de premiação</a:t>
            </a:r>
            <a:endParaRPr lang="en-US" sz="1400" dirty="0"/>
          </a:p>
        </p:txBody>
      </p:sp>
      <p:sp>
        <p:nvSpPr>
          <p:cNvPr id="33" name="Shape 5"/>
          <p:cNvSpPr/>
          <p:nvPr/>
        </p:nvSpPr>
        <p:spPr>
          <a:xfrm>
            <a:off x="4097621" y="2496069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6"/>
          <p:cNvSpPr/>
          <p:nvPr/>
        </p:nvSpPr>
        <p:spPr>
          <a:xfrm>
            <a:off x="4097621" y="2816109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4000" b="1" dirty="0" smtClean="0">
                <a:solidFill>
                  <a:srgbClr val="00B050"/>
                </a:solidFill>
              </a:rPr>
              <a:t>402.793</a:t>
            </a:r>
            <a:r>
              <a:rPr lang="pt-BR" sz="7200" b="1" dirty="0" smtClean="0">
                <a:solidFill>
                  <a:srgbClr val="00B050"/>
                </a:solidFill>
              </a:rPr>
              <a:t> </a:t>
            </a:r>
            <a:endParaRPr lang="en-US" sz="4400" b="1" dirty="0">
              <a:solidFill>
                <a:srgbClr val="00B050"/>
              </a:solidFill>
            </a:endParaRPr>
          </a:p>
        </p:txBody>
      </p:sp>
      <p:sp>
        <p:nvSpPr>
          <p:cNvPr id="35" name="Text 7"/>
          <p:cNvSpPr/>
          <p:nvPr/>
        </p:nvSpPr>
        <p:spPr>
          <a:xfrm>
            <a:off x="4371941" y="3776229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aixas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geradas.</a:t>
            </a:r>
            <a:endParaRPr lang="en-US" sz="1400" dirty="0"/>
          </a:p>
        </p:txBody>
      </p:sp>
      <p:sp>
        <p:nvSpPr>
          <p:cNvPr id="36" name="Shape 8"/>
          <p:cNvSpPr/>
          <p:nvPr/>
        </p:nvSpPr>
        <p:spPr>
          <a:xfrm>
            <a:off x="7892381" y="2496069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7" name="Text 9"/>
          <p:cNvSpPr/>
          <p:nvPr/>
        </p:nvSpPr>
        <p:spPr>
          <a:xfrm>
            <a:off x="7892381" y="2816109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</a:t>
            </a:r>
            <a:r>
              <a:rPr lang="en-US" sz="4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0,0216</a:t>
            </a:r>
            <a:endParaRPr lang="en-US" sz="4000" dirty="0"/>
          </a:p>
        </p:txBody>
      </p:sp>
      <p:sp>
        <p:nvSpPr>
          <p:cNvPr id="38" name="Text 10"/>
          <p:cNvSpPr/>
          <p:nvPr/>
        </p:nvSpPr>
        <p:spPr>
          <a:xfrm>
            <a:off x="8166701" y="3776229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caixa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gerada</a:t>
            </a:r>
            <a:endParaRPr lang="en-US" sz="1400" dirty="0"/>
          </a:p>
        </p:txBody>
      </p:sp>
      <p:sp>
        <p:nvSpPr>
          <p:cNvPr id="39" name="Text 11"/>
          <p:cNvSpPr/>
          <p:nvPr/>
        </p:nvSpPr>
        <p:spPr>
          <a:xfrm>
            <a:off x="289145" y="5513589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 em premiação: R$ </a:t>
            </a:r>
            <a:r>
              <a:rPr lang="pt-BR" b="1" dirty="0">
                <a:solidFill>
                  <a:srgbClr val="002060"/>
                </a:solidFill>
              </a:rPr>
              <a:t>8.705,34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40" name="Text 12"/>
          <p:cNvSpPr/>
          <p:nvPr/>
        </p:nvSpPr>
        <p:spPr>
          <a:xfrm>
            <a:off x="289145" y="601650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real investido gerou aproximadamente </a:t>
            </a:r>
            <a:r>
              <a:rPr lang="en-US" sz="13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caixas </a:t>
            </a: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de </a:t>
            </a:r>
            <a:r>
              <a:rPr lang="en-US" sz="13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(R$1,00/ R$0,0216) 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8334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áfico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0368406"/>
              </p:ext>
            </p:extLst>
          </p:nvPr>
        </p:nvGraphicFramePr>
        <p:xfrm>
          <a:off x="740802" y="1777696"/>
          <a:ext cx="10249200" cy="278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0"/>
          <p:cNvSpPr/>
          <p:nvPr/>
        </p:nvSpPr>
        <p:spPr>
          <a:xfrm>
            <a:off x="5843510" y="228600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12" name="Text 1"/>
          <p:cNvSpPr/>
          <p:nvPr/>
        </p:nvSpPr>
        <p:spPr>
          <a:xfrm>
            <a:off x="91440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colaboradores na função OP. CD no periodo.</a:t>
            </a:r>
            <a:endParaRPr lang="en-US" sz="1400" dirty="0"/>
          </a:p>
        </p:txBody>
      </p:sp>
      <p:sp>
        <p:nvSpPr>
          <p:cNvPr id="24" name="Text 3"/>
          <p:cNvSpPr/>
          <p:nvPr/>
        </p:nvSpPr>
        <p:spPr>
          <a:xfrm>
            <a:off x="612452" y="5611223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+12,1% Média CDs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0" y="6199246"/>
            <a:ext cx="6508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produtividade, com espaço para crescimento, retenção de HC.</a:t>
            </a:r>
            <a:endParaRPr lang="en-US" sz="1300" dirty="0"/>
          </a:p>
        </p:txBody>
      </p:sp>
      <p:sp>
        <p:nvSpPr>
          <p:cNvPr id="16" name="Text 6"/>
          <p:cNvSpPr/>
          <p:nvPr/>
        </p:nvSpPr>
        <p:spPr>
          <a:xfrm>
            <a:off x="118801" y="4709160"/>
            <a:ext cx="60803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smtClean="0">
                <a:solidFill>
                  <a:srgbClr val="5A5A5A"/>
                </a:solidFill>
                <a:latin typeface="Calibri" pitchFamily="34" charset="0"/>
                <a:cs typeface="Calibri" pitchFamily="34" charset="-120"/>
              </a:rPr>
              <a:t>Clicar no N° da CD para detalhamento.</a:t>
            </a:r>
            <a:endParaRPr lang="en-US" sz="1050" dirty="0"/>
          </a:p>
        </p:txBody>
      </p:sp>
      <p:cxnSp>
        <p:nvCxnSpPr>
          <p:cNvPr id="5" name="Conector Angulado 4"/>
          <p:cNvCxnSpPr>
            <a:stCxn id="16" idx="1"/>
          </p:cNvCxnSpPr>
          <p:nvPr/>
        </p:nvCxnSpPr>
        <p:spPr>
          <a:xfrm rot="10800000" flipH="1">
            <a:off x="118801" y="4028040"/>
            <a:ext cx="1056856" cy="864000"/>
          </a:xfrm>
          <a:prstGeom prst="bentConnector3">
            <a:avLst>
              <a:gd name="adj1" fmla="val -3090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>
            <a:hlinkClick r:id="rId3" action="ppaction://hlinksldjump" tooltip="Resumo Semanal CD409"/>
          </p:cNvPr>
          <p:cNvSpPr/>
          <p:nvPr/>
        </p:nvSpPr>
        <p:spPr>
          <a:xfrm>
            <a:off x="1360471" y="3957878"/>
            <a:ext cx="728872" cy="20716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Retângulo 1">
            <a:hlinkClick r:id="rId4" action="ppaction://hlinksldjump" tooltip="Resumo Semanal CD409"/>
          </p:cNvPr>
          <p:cNvSpPr/>
          <p:nvPr/>
        </p:nvSpPr>
        <p:spPr>
          <a:xfrm>
            <a:off x="5500966" y="3957878"/>
            <a:ext cx="728872" cy="20716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CDRJ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2" name="Retângulo 31">
            <a:hlinkClick r:id="rId5" action="ppaction://hlinksldjump" tooltip="Resumo Semanal CD409"/>
          </p:cNvPr>
          <p:cNvSpPr/>
          <p:nvPr/>
        </p:nvSpPr>
        <p:spPr>
          <a:xfrm>
            <a:off x="6868774" y="3957878"/>
            <a:ext cx="728872" cy="20716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CDCE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Retângulo 32">
            <a:hlinkClick r:id="rId6" action="ppaction://hlinksldjump" tooltip="Resumo Semanal CD409"/>
          </p:cNvPr>
          <p:cNvSpPr/>
          <p:nvPr/>
        </p:nvSpPr>
        <p:spPr>
          <a:xfrm>
            <a:off x="8298367" y="3957878"/>
            <a:ext cx="728872" cy="20716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CDDF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4" name="Retângulo 33">
            <a:hlinkClick r:id="rId7" action="ppaction://hlinksldjump" tooltip="Resumo Semanal CD409"/>
          </p:cNvPr>
          <p:cNvSpPr/>
          <p:nvPr/>
        </p:nvSpPr>
        <p:spPr>
          <a:xfrm>
            <a:off x="4133158" y="3957878"/>
            <a:ext cx="728872" cy="20716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5" name="Retângulo 34">
            <a:hlinkClick r:id="rId8" action="ppaction://hlinksldjump" tooltip="Resumo Semanal CD409"/>
          </p:cNvPr>
          <p:cNvSpPr/>
          <p:nvPr/>
        </p:nvSpPr>
        <p:spPr>
          <a:xfrm>
            <a:off x="2765350" y="3957878"/>
            <a:ext cx="728872" cy="20716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CD4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27" name="Conector Angulado 26"/>
          <p:cNvCxnSpPr/>
          <p:nvPr/>
        </p:nvCxnSpPr>
        <p:spPr>
          <a:xfrm rot="10800000" flipV="1">
            <a:off x="4381696" y="4419263"/>
            <a:ext cx="5688000" cy="1512000"/>
          </a:xfrm>
          <a:prstGeom prst="bentConnector3">
            <a:avLst>
              <a:gd name="adj1" fmla="val -222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hlinkClick r:id="rId6" action="ppaction://hlinksldjump" tooltip="Resumo Semanal CD409"/>
          </p:cNvPr>
          <p:cNvSpPr/>
          <p:nvPr/>
        </p:nvSpPr>
        <p:spPr>
          <a:xfrm>
            <a:off x="9554963" y="3970235"/>
            <a:ext cx="1027255" cy="193403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TOTAL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4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843510" y="419135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8865355" y="2596662"/>
            <a:ext cx="3326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-5,6% CD1965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9006398" y="2929765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produtividade.</a:t>
            </a:r>
            <a:endParaRPr lang="en-US" sz="1300" dirty="0"/>
          </a:p>
        </p:txBody>
      </p:sp>
      <p:sp>
        <p:nvSpPr>
          <p:cNvPr id="27" name="Text 6"/>
          <p:cNvSpPr/>
          <p:nvPr/>
        </p:nvSpPr>
        <p:spPr>
          <a:xfrm>
            <a:off x="7876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contratações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787655" y="5009606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omam 92.700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produzidas já em ritmo elevado durante o programa —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histórico anterior para comparação direta, mas reforçando a capacidade do piloto de atrair mão de obra produtiva.</a:t>
            </a:r>
            <a:endParaRPr lang="en-US" sz="1300" dirty="0"/>
          </a:p>
        </p:txBody>
      </p:sp>
      <p:sp>
        <p:nvSpPr>
          <p:cNvPr id="3" name="Retângulo Arredondado 2">
            <a:hlinkClick r:id="rId2" action="ppaction://hlinksldjump" tooltip="Voltar a Resumo"/>
          </p:cNvPr>
          <p:cNvSpPr/>
          <p:nvPr/>
        </p:nvSpPr>
        <p:spPr>
          <a:xfrm>
            <a:off x="294295" y="4314664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50548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Diretos</a:t>
            </a: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5054854" y="5596730"/>
            <a:ext cx="449554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Implementação WMS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Indisponibilidade de Maquinas (30 transpaleteiras </a:t>
            </a: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por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dia)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Jogos da Copa (Redução no Faturamento dia que antecede)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Rotatividade maior de 55%  no cargo OP.CD no periodo.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Postergação da ultima </a:t>
            </a: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onda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Implementação , programa</a:t>
            </a:r>
          </a:p>
          <a:p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para dia 14/07 e realizada no dia 27/07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Turnover e abseteismo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 smtClean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300" dirty="0" smtClean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graphicFrame>
        <p:nvGraphicFramePr>
          <p:cNvPr id="12" name="Gráfico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50262"/>
              </p:ext>
            </p:extLst>
          </p:nvPr>
        </p:nvGraphicFramePr>
        <p:xfrm>
          <a:off x="464434" y="1981973"/>
          <a:ext cx="8330400" cy="18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037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843510" y="419135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8865355" y="2653505"/>
            <a:ext cx="3326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+7% CD930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9006398" y="298660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produtividade.</a:t>
            </a:r>
            <a:endParaRPr lang="en-US" sz="1300" dirty="0"/>
          </a:p>
        </p:txBody>
      </p:sp>
      <p:sp>
        <p:nvSpPr>
          <p:cNvPr id="27" name="Text 6"/>
          <p:cNvSpPr/>
          <p:nvPr/>
        </p:nvSpPr>
        <p:spPr>
          <a:xfrm>
            <a:off x="7876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contratações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787655" y="5009606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omam 179.975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produzidas já em ritmo elevado durante o programa —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histórico anterior para comparação direta, mas reforçando a capacidade do piloto de atrair mão de obra produtiva.</a:t>
            </a:r>
            <a:endParaRPr lang="en-US" sz="1300" dirty="0"/>
          </a:p>
        </p:txBody>
      </p:sp>
      <p:sp>
        <p:nvSpPr>
          <p:cNvPr id="3" name="Retângulo Arredondado 2">
            <a:hlinkClick r:id="rId2" action="ppaction://hlinksldjump" tooltip="Voltar a Resumo"/>
          </p:cNvPr>
          <p:cNvSpPr/>
          <p:nvPr/>
        </p:nvSpPr>
        <p:spPr>
          <a:xfrm>
            <a:off x="787655" y="4328405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3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247230"/>
              </p:ext>
            </p:extLst>
          </p:nvPr>
        </p:nvGraphicFramePr>
        <p:xfrm>
          <a:off x="366350" y="2097618"/>
          <a:ext cx="833055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50548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Diretos</a:t>
            </a: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054855" y="5021947"/>
            <a:ext cx="449554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Jogos da Copa (Redução no Faturamento dia que antecede)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Entendimento e adaptação ao programa (</a:t>
            </a: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Piloto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)</a:t>
            </a:r>
          </a:p>
          <a:p>
            <a:endParaRPr lang="en-US" sz="1300" dirty="0" smtClean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 smtClean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4359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843510" y="419135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8865355" y="2529935"/>
            <a:ext cx="3326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+1,6% CD1942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9006398" y="286303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produtividade.</a:t>
            </a:r>
            <a:endParaRPr lang="en-US" sz="1300" dirty="0"/>
          </a:p>
        </p:txBody>
      </p:sp>
      <p:sp>
        <p:nvSpPr>
          <p:cNvPr id="27" name="Text 6"/>
          <p:cNvSpPr/>
          <p:nvPr/>
        </p:nvSpPr>
        <p:spPr>
          <a:xfrm>
            <a:off x="7876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contratações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787655" y="5009606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omam 58.507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produzidas já em ritmo elevado durante o programa —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histórico anterior para comparação direta, mas reforçando a capacidade do piloto de atrair mão de obra produtiva.</a:t>
            </a:r>
            <a:endParaRPr lang="en-US" sz="1300" dirty="0"/>
          </a:p>
        </p:txBody>
      </p:sp>
      <p:sp>
        <p:nvSpPr>
          <p:cNvPr id="3" name="Retângulo Arredondado 2">
            <a:hlinkClick r:id="rId2" action="ppaction://hlinksldjump" tooltip="Voltar a Resumo"/>
          </p:cNvPr>
          <p:cNvSpPr/>
          <p:nvPr/>
        </p:nvSpPr>
        <p:spPr>
          <a:xfrm>
            <a:off x="514642" y="4161948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3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7353585"/>
              </p:ext>
            </p:extLst>
          </p:nvPr>
        </p:nvGraphicFramePr>
        <p:xfrm>
          <a:off x="225307" y="2045155"/>
          <a:ext cx="833055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50548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Diretos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4" name="Text 7"/>
          <p:cNvSpPr/>
          <p:nvPr/>
        </p:nvSpPr>
        <p:spPr>
          <a:xfrm>
            <a:off x="4902455" y="5275123"/>
            <a:ext cx="449554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Absenteismo e turnover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Jogos da Copa (Redução no Faturamento no dia que antecede)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Rotatividade de 36%  no cargo OP.CD no periodo.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Ocupação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alta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aproximadamente 15 </a:t>
            </a: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dias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300" dirty="0" smtClean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3838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843510" y="419135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8865355" y="2418722"/>
            <a:ext cx="3326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+6,1% CD409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9006398" y="2751825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produtividade.</a:t>
            </a:r>
            <a:endParaRPr lang="en-US" sz="1300" dirty="0"/>
          </a:p>
        </p:txBody>
      </p:sp>
      <p:sp>
        <p:nvSpPr>
          <p:cNvPr id="26" name="Shape 5"/>
          <p:cNvSpPr/>
          <p:nvPr/>
        </p:nvSpPr>
        <p:spPr>
          <a:xfrm>
            <a:off x="6790038" y="347472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27" name="Text 6"/>
          <p:cNvSpPr/>
          <p:nvPr/>
        </p:nvSpPr>
        <p:spPr>
          <a:xfrm>
            <a:off x="7876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contratações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787655" y="5009606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omam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produzidas já em ritmo elevado durante o programa —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histórico anterior para comparação direta, mas reforçando a capacidade do piloto de atrair mão de obra produtiva.</a:t>
            </a:r>
            <a:endParaRPr lang="en-US" sz="1300" dirty="0"/>
          </a:p>
        </p:txBody>
      </p:sp>
      <p:sp>
        <p:nvSpPr>
          <p:cNvPr id="3" name="Retângulo Arredondado 2">
            <a:hlinkClick r:id="rId2" action="ppaction://hlinksldjump" tooltip="Voltar a Resumo"/>
          </p:cNvPr>
          <p:cNvSpPr/>
          <p:nvPr/>
        </p:nvSpPr>
        <p:spPr>
          <a:xfrm>
            <a:off x="787655" y="3923729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3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146615"/>
              </p:ext>
            </p:extLst>
          </p:nvPr>
        </p:nvGraphicFramePr>
        <p:xfrm>
          <a:off x="366350" y="1862835"/>
          <a:ext cx="833055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4127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843510" y="419135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8865355" y="2418722"/>
            <a:ext cx="3326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+14,4% CDCE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9006398" y="2751825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produtividade.</a:t>
            </a:r>
            <a:endParaRPr lang="en-US" sz="1300" dirty="0"/>
          </a:p>
        </p:txBody>
      </p:sp>
      <p:sp>
        <p:nvSpPr>
          <p:cNvPr id="3" name="Retângulo Arredondado 2">
            <a:hlinkClick r:id="rId2" action="ppaction://hlinksldjump" tooltip="Voltar a Resumo"/>
          </p:cNvPr>
          <p:cNvSpPr/>
          <p:nvPr/>
        </p:nvSpPr>
        <p:spPr>
          <a:xfrm>
            <a:off x="787655" y="3923729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3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6770121"/>
              </p:ext>
            </p:extLst>
          </p:nvPr>
        </p:nvGraphicFramePr>
        <p:xfrm>
          <a:off x="366350" y="1862835"/>
          <a:ext cx="833055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7"/>
          <p:cNvSpPr/>
          <p:nvPr/>
        </p:nvSpPr>
        <p:spPr>
          <a:xfrm>
            <a:off x="787655" y="5009606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operacional está com ritmo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 durante o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na comparação,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reforçando a capacidade do piloto de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mais produtividade.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7876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contratações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906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843510" y="419135"/>
            <a:ext cx="6043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Produtividade: Antes x Depois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8865355" y="2418722"/>
            <a:ext cx="3326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+13,4% CDDF</a:t>
            </a:r>
            <a:endParaRPr lang="en-US" sz="3200" dirty="0"/>
          </a:p>
        </p:txBody>
      </p:sp>
      <p:sp>
        <p:nvSpPr>
          <p:cNvPr id="25" name="Text 4"/>
          <p:cNvSpPr/>
          <p:nvPr/>
        </p:nvSpPr>
        <p:spPr>
          <a:xfrm>
            <a:off x="9006398" y="2751825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produtividade.</a:t>
            </a:r>
            <a:endParaRPr lang="en-US" sz="1300" dirty="0"/>
          </a:p>
        </p:txBody>
      </p:sp>
      <p:sp>
        <p:nvSpPr>
          <p:cNvPr id="26" name="Shape 5"/>
          <p:cNvSpPr/>
          <p:nvPr/>
        </p:nvSpPr>
        <p:spPr>
          <a:xfrm>
            <a:off x="6790038" y="347472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3" name="Retângulo Arredondado 2">
            <a:hlinkClick r:id="rId2" action="ppaction://hlinksldjump" tooltip="Voltar a Resumo"/>
          </p:cNvPr>
          <p:cNvSpPr/>
          <p:nvPr/>
        </p:nvSpPr>
        <p:spPr>
          <a:xfrm>
            <a:off x="787655" y="4065520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3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141086"/>
              </p:ext>
            </p:extLst>
          </p:nvPr>
        </p:nvGraphicFramePr>
        <p:xfrm>
          <a:off x="160774" y="1933942"/>
          <a:ext cx="833055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7"/>
          <p:cNvSpPr/>
          <p:nvPr/>
        </p:nvSpPr>
        <p:spPr>
          <a:xfrm>
            <a:off x="787655" y="5009606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operacional está com ritmo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 durante o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na comparação,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reforçando a capacidade do piloto de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mais produtividade.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787655" y="492796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contratações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1003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358497" y="2273642"/>
            <a:ext cx="11500394" cy="2777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Text 0"/>
          <p:cNvSpPr/>
          <p:nvPr/>
        </p:nvSpPr>
        <p:spPr>
          <a:xfrm>
            <a:off x="7452914" y="304355"/>
            <a:ext cx="5707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Histórias de Sucesso</a:t>
            </a:r>
            <a:endParaRPr lang="en-US" sz="3000" dirty="0"/>
          </a:p>
        </p:txBody>
      </p:sp>
      <p:sp>
        <p:nvSpPr>
          <p:cNvPr id="59" name="Text 1"/>
          <p:cNvSpPr/>
          <p:nvPr/>
        </p:nvSpPr>
        <p:spPr>
          <a:xfrm>
            <a:off x="7469472" y="745943"/>
            <a:ext cx="3099817" cy="352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de crescimento </a:t>
            </a:r>
            <a:r>
              <a:rPr lang="en-US" sz="1400" dirty="0" err="1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CD</a:t>
            </a:r>
            <a:endParaRPr lang="en-US" sz="1400" dirty="0"/>
          </a:p>
        </p:txBody>
      </p:sp>
      <p:sp>
        <p:nvSpPr>
          <p:cNvPr id="40" name="Retângulo 39">
            <a:hlinkClick r:id="rId2" action="ppaction://hlinksldjump" tooltip="Resumo Semanal CD409"/>
          </p:cNvPr>
          <p:cNvSpPr/>
          <p:nvPr/>
        </p:nvSpPr>
        <p:spPr>
          <a:xfrm>
            <a:off x="633945" y="2178248"/>
            <a:ext cx="1044000" cy="288000"/>
          </a:xfrm>
          <a:prstGeom prst="rect">
            <a:avLst/>
          </a:prstGeom>
          <a:solidFill>
            <a:srgbClr val="002060"/>
          </a:solidFill>
          <a:ln>
            <a:noFill/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>
                <a:solidFill>
                  <a:schemeClr val="bg1"/>
                </a:solidFill>
              </a:rPr>
              <a:t>CD1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41" name="Retângulo 40">
            <a:hlinkClick r:id="rId3" action="ppaction://hlinksldjump" tooltip="Resumo Semanal CD409"/>
          </p:cNvPr>
          <p:cNvSpPr/>
          <p:nvPr/>
        </p:nvSpPr>
        <p:spPr>
          <a:xfrm>
            <a:off x="4856580" y="2178247"/>
            <a:ext cx="1044000" cy="288000"/>
          </a:xfrm>
          <a:prstGeom prst="rect">
            <a:avLst/>
          </a:prstGeom>
          <a:solidFill>
            <a:srgbClr val="002060"/>
          </a:solidFill>
          <a:ln>
            <a:noFill/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>
                <a:solidFill>
                  <a:schemeClr val="bg1"/>
                </a:solidFill>
              </a:rPr>
              <a:t>CD2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42" name="Retângulo 41">
            <a:hlinkClick r:id="rId4" action="ppaction://hlinksldjump" tooltip="Resumo Semanal CD409"/>
          </p:cNvPr>
          <p:cNvSpPr/>
          <p:nvPr/>
        </p:nvSpPr>
        <p:spPr>
          <a:xfrm>
            <a:off x="8980890" y="2183482"/>
            <a:ext cx="1044000" cy="288000"/>
          </a:xfrm>
          <a:prstGeom prst="rect">
            <a:avLst/>
          </a:prstGeom>
          <a:solidFill>
            <a:srgbClr val="002060"/>
          </a:solidFill>
          <a:ln>
            <a:noFill/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>
                <a:solidFill>
                  <a:schemeClr val="bg1"/>
                </a:solidFill>
              </a:rPr>
              <a:t>CD4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3068650" y="3609215"/>
            <a:ext cx="1044000" cy="288000"/>
          </a:xfrm>
          <a:prstGeom prst="rect">
            <a:avLst/>
          </a:prstGeom>
          <a:solidFill>
            <a:srgbClr val="002060"/>
          </a:solidFill>
          <a:ln>
            <a:noFill/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>
                <a:solidFill>
                  <a:schemeClr val="bg1"/>
                </a:solidFill>
              </a:rPr>
              <a:t>CDRJ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hlinkClick r:id="rId5" action="ppaction://hlinksldjump" tooltip="Resumo Semanal CD409"/>
          </p:cNvPr>
          <p:cNvSpPr/>
          <p:nvPr/>
        </p:nvSpPr>
        <p:spPr>
          <a:xfrm>
            <a:off x="7571874" y="3630876"/>
            <a:ext cx="1044000" cy="288000"/>
          </a:xfrm>
          <a:prstGeom prst="rect">
            <a:avLst/>
          </a:prstGeom>
          <a:solidFill>
            <a:srgbClr val="002060"/>
          </a:solidFill>
          <a:ln>
            <a:noFill/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>
                <a:solidFill>
                  <a:schemeClr val="bg1"/>
                </a:solidFill>
              </a:rPr>
              <a:t>CDCE</a:t>
            </a:r>
            <a:endParaRPr lang="pt-BR" sz="2800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74180"/>
              </p:ext>
            </p:extLst>
          </p:nvPr>
        </p:nvGraphicFramePr>
        <p:xfrm>
          <a:off x="2965699" y="3918876"/>
          <a:ext cx="3636244" cy="952500"/>
        </p:xfrm>
        <a:graphic>
          <a:graphicData uri="http://schemas.openxmlformats.org/drawingml/2006/table">
            <a:tbl>
              <a:tblPr/>
              <a:tblGrid>
                <a:gridCol w="3636244">
                  <a:extLst>
                    <a:ext uri="{9D8B030D-6E8A-4147-A177-3AD203B41FA5}">
                      <a16:colId xmlns:a16="http://schemas.microsoft.com/office/drawing/2014/main" val="114128796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Ryan Nilton Ferreira: 682 → 781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(+99)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83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Rinaldo Dos Santos Silva: 660 → 718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(+58)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795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Wallace Da Silva Gomes: 695 → 710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(+15)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8596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Luiz Felipe De Assis Macedo: 684 → 747 </a:t>
                      </a:r>
                      <a:r>
                        <a:rPr lang="pt-BR" sz="110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(+63)</a:t>
                      </a:r>
                      <a:endParaRPr lang="pt-BR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9296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257795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37542"/>
              </p:ext>
            </p:extLst>
          </p:nvPr>
        </p:nvGraphicFramePr>
        <p:xfrm>
          <a:off x="568566" y="2491071"/>
          <a:ext cx="3352800" cy="7620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9676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Wellington Prates: 427 → 664 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(+237)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5669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Vitalis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Mbakou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457 → 517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(+60)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7108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Midachka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Louiranvil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495 → 559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(+64)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820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Fernando Magalhaes: 472 → 526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(+54)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596085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57369"/>
              </p:ext>
            </p:extLst>
          </p:nvPr>
        </p:nvGraphicFramePr>
        <p:xfrm>
          <a:off x="4802001" y="2466248"/>
          <a:ext cx="3305417" cy="881316"/>
        </p:xfrm>
        <a:graphic>
          <a:graphicData uri="http://schemas.openxmlformats.org/drawingml/2006/table">
            <a:tbl>
              <a:tblPr/>
              <a:tblGrid>
                <a:gridCol w="3305417">
                  <a:extLst>
                    <a:ext uri="{9D8B030D-6E8A-4147-A177-3AD203B41FA5}">
                      <a16:colId xmlns:a16="http://schemas.microsoft.com/office/drawing/2014/main" val="795408139"/>
                    </a:ext>
                  </a:extLst>
                </a:gridCol>
              </a:tblGrid>
              <a:tr h="18914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Vitor Manoel De Araujo: 734 → 1000 </a:t>
                      </a:r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(+266)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816696"/>
                  </a:ext>
                </a:extLst>
              </a:tr>
              <a:tr h="162339">
                <a:tc>
                  <a:txBody>
                    <a:bodyPr/>
                    <a:lstStyle/>
                    <a:p>
                      <a:pPr algn="l" fontAlgn="ctr"/>
                      <a:r>
                        <a:rPr lang="it-IT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 Cecilio Sizilio: 600 → 660 </a:t>
                      </a:r>
                      <a:r>
                        <a:rPr lang="it-IT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(+60)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11391"/>
                  </a:ext>
                </a:extLst>
              </a:tr>
              <a:tr h="162339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Alison Alexandre De </a:t>
                      </a:r>
                      <a:r>
                        <a:rPr lang="pt-B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Fegueredo</a:t>
                      </a:r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529 → 610 </a:t>
                      </a:r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(+81)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159187"/>
                  </a:ext>
                </a:extLst>
              </a:tr>
              <a:tr h="18914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Bryan Leite De Souza: 506 → 573 </a:t>
                      </a:r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(+67)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90949"/>
                  </a:ext>
                </a:extLst>
              </a:tr>
              <a:tr h="162339">
                <a:tc>
                  <a:txBody>
                    <a:bodyPr/>
                    <a:lstStyle/>
                    <a:p>
                      <a:pPr algn="l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43839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8649"/>
              </p:ext>
            </p:extLst>
          </p:nvPr>
        </p:nvGraphicFramePr>
        <p:xfrm>
          <a:off x="8930750" y="2471482"/>
          <a:ext cx="3620320" cy="892591"/>
        </p:xfrm>
        <a:graphic>
          <a:graphicData uri="http://schemas.openxmlformats.org/drawingml/2006/table">
            <a:tbl>
              <a:tblPr/>
              <a:tblGrid>
                <a:gridCol w="3620320">
                  <a:extLst>
                    <a:ext uri="{9D8B030D-6E8A-4147-A177-3AD203B41FA5}">
                      <a16:colId xmlns:a16="http://schemas.microsoft.com/office/drawing/2014/main" val="393804447"/>
                    </a:ext>
                  </a:extLst>
                </a:gridCol>
              </a:tblGrid>
              <a:tr h="14388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Benedito Nonato Da Silva: 647 → 729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(+82)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289367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Aparecido Rodrigues Da Silva: 567 → 646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(+79)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662423"/>
                  </a:ext>
                </a:extLst>
              </a:tr>
              <a:tr h="120131">
                <a:tc>
                  <a:txBody>
                    <a:bodyPr/>
                    <a:lstStyle/>
                    <a:p>
                      <a:pPr algn="l" fontAlgn="ctr"/>
                      <a:r>
                        <a:rPr lang="nn-N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Kisonga Junior: 598 → 613 </a:t>
                      </a:r>
                      <a:r>
                        <a:rPr lang="nn-NO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(+15)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883890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Rogeiro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Nzolameso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Ferraz: 473 → 568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(+95)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910135"/>
                  </a:ext>
                </a:extLst>
              </a:tr>
              <a:tr h="14388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Caio Cassiano Da Silva: 484 → 554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(+70)</a:t>
                      </a:r>
                    </a:p>
                  </a:txBody>
                  <a:tcPr marL="68923" marR="7658" marT="76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588434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534103"/>
              </p:ext>
            </p:extLst>
          </p:nvPr>
        </p:nvGraphicFramePr>
        <p:xfrm>
          <a:off x="7452914" y="3918876"/>
          <a:ext cx="3429571" cy="571500"/>
        </p:xfrm>
        <a:graphic>
          <a:graphicData uri="http://schemas.openxmlformats.org/drawingml/2006/table">
            <a:tbl>
              <a:tblPr/>
              <a:tblGrid>
                <a:gridCol w="3429571">
                  <a:extLst>
                    <a:ext uri="{9D8B030D-6E8A-4147-A177-3AD203B41FA5}">
                      <a16:colId xmlns:a16="http://schemas.microsoft.com/office/drawing/2014/main" val="23424415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Alef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Bruno Rodrigues: 1146 → 1233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(+87)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610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Thiago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Estevao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Moura: 976 → 1237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(+261)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850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Joao Victor Mendes: 809 → 938 </a:t>
                      </a: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(+129)</a:t>
                      </a:r>
                    </a:p>
                  </a:txBody>
                  <a:tcPr marL="857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938306"/>
                  </a:ext>
                </a:extLst>
              </a:tr>
            </a:tbl>
          </a:graphicData>
        </a:graphic>
      </p:graphicFrame>
      <p:sp>
        <p:nvSpPr>
          <p:cNvPr id="11" name="Retângulo 10"/>
          <p:cNvSpPr/>
          <p:nvPr/>
        </p:nvSpPr>
        <p:spPr>
          <a:xfrm>
            <a:off x="141135" y="5520243"/>
            <a:ext cx="110987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segue impulsionando ganhos consistentes de produtividade, com evoluções expressivas entre junho e julho em todos os CDs. Destaque para colaboradores que alcançaram crescimento de até 55,5%, reforçando a consolidação da cultura de alta performance.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58497" y="1911445"/>
            <a:ext cx="11500394" cy="1424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14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242560" y="180409"/>
            <a:ext cx="679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Custo com Terceiros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5038262" y="1279173"/>
            <a:ext cx="715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com mão de obra terceirizada 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—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729048" y="170992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9" name="Text 3"/>
          <p:cNvSpPr/>
          <p:nvPr/>
        </p:nvSpPr>
        <p:spPr>
          <a:xfrm>
            <a:off x="796123" y="20465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817.193</a:t>
            </a:r>
            <a:endParaRPr lang="en-US" sz="2400" dirty="0"/>
          </a:p>
        </p:txBody>
      </p:sp>
      <p:sp>
        <p:nvSpPr>
          <p:cNvPr id="20" name="Text 4"/>
          <p:cNvSpPr/>
          <p:nvPr/>
        </p:nvSpPr>
        <p:spPr>
          <a:xfrm>
            <a:off x="796123" y="240645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gasto mensal, de janeiro a junho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729048" y="312724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2" name="Text 6"/>
          <p:cNvSpPr/>
          <p:nvPr/>
        </p:nvSpPr>
        <p:spPr>
          <a:xfrm>
            <a:off x="825868" y="327436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-21,1%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>
            <a:off x="848709" y="3683247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no período</a:t>
            </a:r>
            <a:endParaRPr lang="en-US" sz="1100" dirty="0"/>
          </a:p>
        </p:txBody>
      </p:sp>
      <p:sp>
        <p:nvSpPr>
          <p:cNvPr id="29" name="Shape 8"/>
          <p:cNvSpPr/>
          <p:nvPr/>
        </p:nvSpPr>
        <p:spPr>
          <a:xfrm>
            <a:off x="729048" y="4544568"/>
            <a:ext cx="3931920" cy="638772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30" name="Text 9"/>
          <p:cNvSpPr/>
          <p:nvPr/>
        </p:nvSpPr>
        <p:spPr>
          <a:xfrm>
            <a:off x="825868" y="448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359.402</a:t>
            </a:r>
            <a:endParaRPr lang="en-US" sz="2400" dirty="0"/>
          </a:p>
        </p:txBody>
      </p:sp>
      <p:sp>
        <p:nvSpPr>
          <p:cNvPr id="31" name="Text 10"/>
          <p:cNvSpPr/>
          <p:nvPr/>
        </p:nvSpPr>
        <p:spPr>
          <a:xfrm>
            <a:off x="905396" y="47298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mês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pós-programa (mai → jun)</a:t>
            </a:r>
            <a:endParaRPr lang="en-US" sz="1100" dirty="0"/>
          </a:p>
        </p:txBody>
      </p:sp>
      <p:sp>
        <p:nvSpPr>
          <p:cNvPr id="32" name="Text 11"/>
          <p:cNvSpPr/>
          <p:nvPr/>
        </p:nvSpPr>
        <p:spPr>
          <a:xfrm>
            <a:off x="5118168" y="4443981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</a:t>
            </a:r>
            <a:r>
              <a:rPr lang="en-US" sz="1100" i="1" dirty="0" err="1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coincidindo com o início do programa, a queda se torna mais acentuada e sustentada.</a:t>
            </a:r>
            <a:endParaRPr lang="en-US" sz="1100" dirty="0"/>
          </a:p>
        </p:txBody>
      </p:sp>
      <p:graphicFrame>
        <p:nvGraphicFramePr>
          <p:cNvPr id="17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1724144"/>
              </p:ext>
            </p:extLst>
          </p:nvPr>
        </p:nvGraphicFramePr>
        <p:xfrm>
          <a:off x="4837316" y="1399526"/>
          <a:ext cx="6700892" cy="330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Retângulo 35">
            <a:hlinkClick r:id="rId3" action="ppaction://hlinksldjump" tooltip="Resumo Semanal CD409"/>
          </p:cNvPr>
          <p:cNvSpPr/>
          <p:nvPr/>
        </p:nvSpPr>
        <p:spPr>
          <a:xfrm>
            <a:off x="474103" y="5800921"/>
            <a:ext cx="728872" cy="207166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8" name="Retângulo 37">
            <a:hlinkClick r:id="rId4" action="ppaction://hlinksldjump" tooltip="Resumo Semanal CD409"/>
          </p:cNvPr>
          <p:cNvSpPr/>
          <p:nvPr/>
        </p:nvSpPr>
        <p:spPr>
          <a:xfrm>
            <a:off x="1706366" y="5800921"/>
            <a:ext cx="728872" cy="207166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9" name="Retângulo 38">
            <a:hlinkClick r:id="rId5" action="ppaction://hlinksldjump" tooltip="Resumo Semanal CD409"/>
          </p:cNvPr>
          <p:cNvSpPr/>
          <p:nvPr/>
        </p:nvSpPr>
        <p:spPr>
          <a:xfrm>
            <a:off x="2938629" y="5800921"/>
            <a:ext cx="728872" cy="207166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2" name="Retângulo 41">
            <a:hlinkClick r:id="rId6" action="ppaction://hlinksldjump" tooltip="Resumo Semanal CD409"/>
          </p:cNvPr>
          <p:cNvSpPr/>
          <p:nvPr/>
        </p:nvSpPr>
        <p:spPr>
          <a:xfrm>
            <a:off x="4048965" y="5800921"/>
            <a:ext cx="728872" cy="207166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CDCE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3" name="Text 10"/>
          <p:cNvSpPr/>
          <p:nvPr/>
        </p:nvSpPr>
        <p:spPr>
          <a:xfrm>
            <a:off x="425909" y="5431310"/>
            <a:ext cx="6890186" cy="364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 smtClean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Maiores</a:t>
            </a:r>
            <a:r>
              <a:rPr lang="en-US" sz="1400" dirty="0" smtClean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dirty="0" smtClean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do Fechamento em Jun/2026 Linha de </a:t>
            </a:r>
            <a:r>
              <a:rPr lang="en-US" sz="1400" dirty="0" err="1" smtClean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terceiro</a:t>
            </a:r>
            <a:r>
              <a:rPr lang="en-US" sz="1400" dirty="0" smtClean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44" name="Text 6"/>
          <p:cNvSpPr/>
          <p:nvPr/>
        </p:nvSpPr>
        <p:spPr>
          <a:xfrm>
            <a:off x="729048" y="6599754"/>
            <a:ext cx="2373733" cy="193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u="sng" dirty="0" smtClean="0">
                <a:solidFill>
                  <a:srgbClr val="5A5A5A"/>
                </a:solidFill>
                <a:latin typeface="Calibri" pitchFamily="34" charset="0"/>
                <a:cs typeface="Calibri" pitchFamily="34" charset="-120"/>
              </a:rPr>
              <a:t>Clicar no N° da CD para detalhamento.</a:t>
            </a:r>
            <a:endParaRPr lang="en-US" sz="1050" u="sng" dirty="0"/>
          </a:p>
        </p:txBody>
      </p:sp>
      <p:cxnSp>
        <p:nvCxnSpPr>
          <p:cNvPr id="45" name="Conector Angulado 44"/>
          <p:cNvCxnSpPr>
            <a:stCxn id="44" idx="1"/>
            <a:endCxn id="36" idx="1"/>
          </p:cNvCxnSpPr>
          <p:nvPr/>
        </p:nvCxnSpPr>
        <p:spPr>
          <a:xfrm rot="10800000">
            <a:off x="474104" y="5904505"/>
            <a:ext cx="254945" cy="791777"/>
          </a:xfrm>
          <a:prstGeom prst="bentConnector3">
            <a:avLst>
              <a:gd name="adj1" fmla="val 256275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398439" y="5986991"/>
            <a:ext cx="972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ambria" panose="02040503050406030204" pitchFamily="18" charset="0"/>
                <a:ea typeface="Cambria" panose="02040503050406030204" pitchFamily="18" charset="0"/>
              </a:rPr>
              <a:t>1.809.313 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59921" y="5986990"/>
            <a:ext cx="92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ambria" panose="02040503050406030204" pitchFamily="18" charset="0"/>
                <a:ea typeface="Cambria" panose="02040503050406030204" pitchFamily="18" charset="0"/>
              </a:rPr>
              <a:t>809.327 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3934946" y="5986991"/>
            <a:ext cx="92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ambria" panose="02040503050406030204" pitchFamily="18" charset="0"/>
                <a:ea typeface="Cambria" panose="02040503050406030204" pitchFamily="18" charset="0"/>
              </a:rPr>
              <a:t>1.401 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1614069" y="5986991"/>
            <a:ext cx="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ambria" panose="02040503050406030204" pitchFamily="18" charset="0"/>
                <a:ea typeface="Cambria" panose="02040503050406030204" pitchFamily="18" charset="0"/>
              </a:rPr>
              <a:t>329.528,2</a:t>
            </a:r>
            <a:endParaRPr lang="pt-BR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Conector reto 10"/>
          <p:cNvCxnSpPr/>
          <p:nvPr/>
        </p:nvCxnSpPr>
        <p:spPr>
          <a:xfrm>
            <a:off x="542451" y="5718859"/>
            <a:ext cx="4608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tângulo 54">
            <a:hlinkClick r:id="rId7" action="ppaction://hlinksldjump" tooltip="Resumo Semanal CD409"/>
          </p:cNvPr>
          <p:cNvSpPr/>
          <p:nvPr/>
        </p:nvSpPr>
        <p:spPr>
          <a:xfrm>
            <a:off x="5100964" y="5799204"/>
            <a:ext cx="728872" cy="207166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CDPE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4986945" y="5985274"/>
            <a:ext cx="92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ambria" panose="02040503050406030204" pitchFamily="18" charset="0"/>
                <a:ea typeface="Cambria" panose="02040503050406030204" pitchFamily="18" charset="0"/>
              </a:rPr>
              <a:t>103.930 </a:t>
            </a:r>
            <a:endParaRPr lang="pt-BR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6"/>
          <p:cNvSpPr/>
          <p:nvPr/>
        </p:nvSpPr>
        <p:spPr>
          <a:xfrm>
            <a:off x="5805525" y="5749496"/>
            <a:ext cx="23737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5A5A5A"/>
                </a:solidFill>
                <a:latin typeface="Calibri" pitchFamily="34" charset="0"/>
                <a:cs typeface="Calibri" pitchFamily="34" charset="-120"/>
              </a:rPr>
              <a:t>CD PE em </a:t>
            </a:r>
            <a:r>
              <a:rPr lang="en-US" sz="1050" dirty="0" err="1" smtClean="0">
                <a:solidFill>
                  <a:srgbClr val="5A5A5A"/>
                </a:solidFill>
                <a:latin typeface="Calibri" pitchFamily="34" charset="0"/>
                <a:cs typeface="Calibri" pitchFamily="34" charset="-120"/>
              </a:rPr>
              <a:t>processo</a:t>
            </a:r>
            <a:r>
              <a:rPr lang="en-US" sz="1050" dirty="0" smtClean="0">
                <a:solidFill>
                  <a:srgbClr val="5A5A5A"/>
                </a:solidFill>
                <a:latin typeface="Calibri" pitchFamily="34" charset="0"/>
                <a:cs typeface="Calibri" pitchFamily="34" charset="-120"/>
              </a:rPr>
              <a:t> de internalização</a:t>
            </a:r>
            <a:endParaRPr lang="en-US" sz="1050" dirty="0"/>
          </a:p>
        </p:txBody>
      </p:sp>
      <p:cxnSp>
        <p:nvCxnSpPr>
          <p:cNvPr id="63" name="Conector reto 62"/>
          <p:cNvCxnSpPr/>
          <p:nvPr/>
        </p:nvCxnSpPr>
        <p:spPr>
          <a:xfrm>
            <a:off x="5087901" y="6019433"/>
            <a:ext cx="2628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81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242560" y="180409"/>
            <a:ext cx="679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Custo com Terceiros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4885862" y="1344168"/>
            <a:ext cx="715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com mão de obra terceirizada </a:t>
            </a:r>
            <a:r>
              <a:rPr lang="en-US" sz="1400" b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CD1 -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729048" y="170992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9" name="Text 3"/>
          <p:cNvSpPr/>
          <p:nvPr/>
        </p:nvSpPr>
        <p:spPr>
          <a:xfrm>
            <a:off x="957648" y="1819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78.852</a:t>
            </a:r>
            <a:endParaRPr lang="en-US" sz="2400" dirty="0"/>
          </a:p>
        </p:txBody>
      </p:sp>
      <p:sp>
        <p:nvSpPr>
          <p:cNvPr id="20" name="Text 4"/>
          <p:cNvSpPr/>
          <p:nvPr/>
        </p:nvSpPr>
        <p:spPr>
          <a:xfrm>
            <a:off x="957648" y="2368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gasto mensal, de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junho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729048" y="312724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2" name="Text 6"/>
          <p:cNvSpPr/>
          <p:nvPr/>
        </p:nvSpPr>
        <p:spPr>
          <a:xfrm>
            <a:off x="957648" y="32369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-4%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>
            <a:off x="957648" y="37856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percentual no período</a:t>
            </a:r>
            <a:endParaRPr lang="en-US" sz="1100" dirty="0"/>
          </a:p>
        </p:txBody>
      </p:sp>
      <p:sp>
        <p:nvSpPr>
          <p:cNvPr id="24" name="Retângulo Arredondado 23">
            <a:hlinkClick r:id="rId2" action="ppaction://hlinksldjump" tooltip="Voltar a Resumo"/>
          </p:cNvPr>
          <p:cNvSpPr/>
          <p:nvPr/>
        </p:nvSpPr>
        <p:spPr>
          <a:xfrm>
            <a:off x="5242560" y="5908820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6" name="Shape 8"/>
          <p:cNvSpPr/>
          <p:nvPr/>
        </p:nvSpPr>
        <p:spPr>
          <a:xfrm>
            <a:off x="729048" y="4696746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7" name="Text 9"/>
          <p:cNvSpPr/>
          <p:nvPr/>
        </p:nvSpPr>
        <p:spPr>
          <a:xfrm>
            <a:off x="957648" y="480647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45.918</a:t>
            </a:r>
            <a:endParaRPr lang="en-US" sz="2400" dirty="0"/>
          </a:p>
        </p:txBody>
      </p:sp>
      <p:sp>
        <p:nvSpPr>
          <p:cNvPr id="28" name="Text 10"/>
          <p:cNvSpPr/>
          <p:nvPr/>
        </p:nvSpPr>
        <p:spPr>
          <a:xfrm>
            <a:off x="957648" y="535511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NRedução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mês </a:t>
            </a:r>
            <a:r>
              <a:rPr lang="en-US" sz="11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-programa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Jul)</a:t>
            </a:r>
            <a:endParaRPr lang="en-US" sz="1100" dirty="0"/>
          </a:p>
        </p:txBody>
      </p:sp>
      <p:graphicFrame>
        <p:nvGraphicFramePr>
          <p:cNvPr id="17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0850235"/>
              </p:ext>
            </p:extLst>
          </p:nvPr>
        </p:nvGraphicFramePr>
        <p:xfrm>
          <a:off x="5016491" y="2083851"/>
          <a:ext cx="6699600" cy="330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11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242560" y="180409"/>
            <a:ext cx="679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Custo com Terceiros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4885862" y="1344168"/>
            <a:ext cx="715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com mão de obra terceirizada </a:t>
            </a:r>
            <a:r>
              <a:rPr lang="en-US" sz="1400" b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CD2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729048" y="170992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9" name="Text 3"/>
          <p:cNvSpPr/>
          <p:nvPr/>
        </p:nvSpPr>
        <p:spPr>
          <a:xfrm>
            <a:off x="957648" y="1819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83.867</a:t>
            </a:r>
            <a:endParaRPr lang="en-US" sz="2400" dirty="0"/>
          </a:p>
        </p:txBody>
      </p:sp>
      <p:sp>
        <p:nvSpPr>
          <p:cNvPr id="20" name="Text 4"/>
          <p:cNvSpPr/>
          <p:nvPr/>
        </p:nvSpPr>
        <p:spPr>
          <a:xfrm>
            <a:off x="957648" y="2368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gasto mensal, de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junho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729048" y="312724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2" name="Text 6"/>
          <p:cNvSpPr/>
          <p:nvPr/>
        </p:nvSpPr>
        <p:spPr>
          <a:xfrm>
            <a:off x="957648" y="32369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-20%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>
            <a:off x="957648" y="37856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percentual no período</a:t>
            </a:r>
            <a:endParaRPr lang="en-US" sz="1100" dirty="0"/>
          </a:p>
        </p:txBody>
      </p:sp>
      <p:sp>
        <p:nvSpPr>
          <p:cNvPr id="29" name="Shape 8"/>
          <p:cNvSpPr/>
          <p:nvPr/>
        </p:nvSpPr>
        <p:spPr>
          <a:xfrm>
            <a:off x="729048" y="454456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30" name="Text 9"/>
          <p:cNvSpPr/>
          <p:nvPr/>
        </p:nvSpPr>
        <p:spPr>
          <a:xfrm>
            <a:off x="957648" y="46542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47.402</a:t>
            </a:r>
            <a:endParaRPr lang="en-US" sz="2400" dirty="0"/>
          </a:p>
        </p:txBody>
      </p:sp>
      <p:sp>
        <p:nvSpPr>
          <p:cNvPr id="31" name="Text 10"/>
          <p:cNvSpPr/>
          <p:nvPr/>
        </p:nvSpPr>
        <p:spPr>
          <a:xfrm>
            <a:off x="957648" y="52029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mês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pós-programa (mai → jun)</a:t>
            </a:r>
            <a:endParaRPr lang="en-US" sz="1100" dirty="0"/>
          </a:p>
        </p:txBody>
      </p:sp>
      <p:sp>
        <p:nvSpPr>
          <p:cNvPr id="32" name="Text 11"/>
          <p:cNvSpPr/>
          <p:nvPr/>
        </p:nvSpPr>
        <p:spPr>
          <a:xfrm>
            <a:off x="729048" y="60076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M</a:t>
            </a:r>
            <a:r>
              <a:rPr lang="en-US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aio, </a:t>
            </a: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coincidindo com o início do programa, a queda se torna mais acentuada e sustentada.</a:t>
            </a:r>
            <a:endParaRPr lang="en-US" sz="1100" dirty="0"/>
          </a:p>
        </p:txBody>
      </p:sp>
      <p:sp>
        <p:nvSpPr>
          <p:cNvPr id="24" name="Retângulo Arredondado 23">
            <a:hlinkClick r:id="rId2" action="ppaction://hlinksldjump" tooltip="Voltar a Resumo"/>
          </p:cNvPr>
          <p:cNvSpPr/>
          <p:nvPr/>
        </p:nvSpPr>
        <p:spPr>
          <a:xfrm>
            <a:off x="5242560" y="5908820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25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836442"/>
              </p:ext>
            </p:extLst>
          </p:nvPr>
        </p:nvGraphicFramePr>
        <p:xfrm>
          <a:off x="4885862" y="2108963"/>
          <a:ext cx="7076329" cy="3010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1451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242560" y="180409"/>
            <a:ext cx="679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Custo com Terceiros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4885862" y="1344168"/>
            <a:ext cx="715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com mão de obra terceirizada </a:t>
            </a:r>
            <a:r>
              <a:rPr lang="en-US" sz="1400" b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729048" y="170992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9" name="Text 3"/>
          <p:cNvSpPr/>
          <p:nvPr/>
        </p:nvSpPr>
        <p:spPr>
          <a:xfrm>
            <a:off x="957648" y="1819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627.890</a:t>
            </a:r>
            <a:endParaRPr lang="en-US" sz="2400" dirty="0"/>
          </a:p>
        </p:txBody>
      </p:sp>
      <p:sp>
        <p:nvSpPr>
          <p:cNvPr id="20" name="Text 4"/>
          <p:cNvSpPr/>
          <p:nvPr/>
        </p:nvSpPr>
        <p:spPr>
          <a:xfrm>
            <a:off x="957648" y="2368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gasto mensal, de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729048" y="312724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2" name="Text 6"/>
          <p:cNvSpPr/>
          <p:nvPr/>
        </p:nvSpPr>
        <p:spPr>
          <a:xfrm>
            <a:off x="957648" y="32369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-6%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>
            <a:off x="957648" y="37856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no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período, referenciando ao programa</a:t>
            </a:r>
            <a:endParaRPr lang="en-US" sz="1100" dirty="0"/>
          </a:p>
        </p:txBody>
      </p:sp>
      <p:sp>
        <p:nvSpPr>
          <p:cNvPr id="29" name="Shape 8"/>
          <p:cNvSpPr/>
          <p:nvPr/>
        </p:nvSpPr>
        <p:spPr>
          <a:xfrm>
            <a:off x="729048" y="454456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30" name="Text 9"/>
          <p:cNvSpPr/>
          <p:nvPr/>
        </p:nvSpPr>
        <p:spPr>
          <a:xfrm>
            <a:off x="957648" y="46542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83.125</a:t>
            </a:r>
            <a:endParaRPr lang="en-US" sz="2400" dirty="0"/>
          </a:p>
        </p:txBody>
      </p:sp>
      <p:sp>
        <p:nvSpPr>
          <p:cNvPr id="31" name="Text 10"/>
          <p:cNvSpPr/>
          <p:nvPr/>
        </p:nvSpPr>
        <p:spPr>
          <a:xfrm>
            <a:off x="957648" y="52029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mês </a:t>
            </a:r>
            <a:r>
              <a:rPr lang="en-US" sz="11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-programa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Julho)</a:t>
            </a:r>
            <a:endParaRPr lang="en-US" sz="1100" dirty="0"/>
          </a:p>
        </p:txBody>
      </p:sp>
      <p:sp>
        <p:nvSpPr>
          <p:cNvPr id="24" name="Retângulo Arredondado 23">
            <a:hlinkClick r:id="rId2" action="ppaction://hlinksldjump" tooltip="Voltar a Resumo"/>
          </p:cNvPr>
          <p:cNvSpPr/>
          <p:nvPr/>
        </p:nvSpPr>
        <p:spPr>
          <a:xfrm>
            <a:off x="5069565" y="5317041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25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83489"/>
              </p:ext>
            </p:extLst>
          </p:nvPr>
        </p:nvGraphicFramePr>
        <p:xfrm>
          <a:off x="4885862" y="1718181"/>
          <a:ext cx="6699600" cy="330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tângulo 2"/>
          <p:cNvSpPr/>
          <p:nvPr/>
        </p:nvSpPr>
        <p:spPr>
          <a:xfrm>
            <a:off x="729048" y="5915740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junho, coincidentemente ao início do programa, o </a:t>
            </a:r>
            <a:r>
              <a:rPr lang="pt-BR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 </a:t>
            </a:r>
            <a:r>
              <a:rPr lang="pt-BR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acelerou a redução da utilização de terceiros</a:t>
            </a:r>
            <a:r>
              <a:rPr lang="pt-BR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100" i="1" dirty="0">
              <a:solidFill>
                <a:srgbClr val="5A5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726680" y="2093976"/>
            <a:ext cx="1828800" cy="274987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660795" y="4917859"/>
            <a:ext cx="369524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na linha de ORÇ após o tombamento da Merc. Liquida.</a:t>
            </a:r>
            <a:endParaRPr lang="pt-BR" sz="1100" i="1" dirty="0">
              <a:solidFill>
                <a:srgbClr val="5A5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999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242560" y="180409"/>
            <a:ext cx="679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Custo com Terceiros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4885862" y="1344168"/>
            <a:ext cx="715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com mão de obra terceirizada </a:t>
            </a:r>
            <a:r>
              <a:rPr lang="en-US" sz="1400" b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CDCE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729048" y="170992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9" name="Text 3"/>
          <p:cNvSpPr/>
          <p:nvPr/>
        </p:nvSpPr>
        <p:spPr>
          <a:xfrm>
            <a:off x="957648" y="1819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933,42</a:t>
            </a:r>
            <a:endParaRPr lang="en-US" sz="2400" dirty="0"/>
          </a:p>
        </p:txBody>
      </p:sp>
      <p:sp>
        <p:nvSpPr>
          <p:cNvPr id="20" name="Text 4"/>
          <p:cNvSpPr/>
          <p:nvPr/>
        </p:nvSpPr>
        <p:spPr>
          <a:xfrm>
            <a:off x="957648" y="2368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gasto mensal, de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junho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729048" y="312724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3" name="Text 7"/>
          <p:cNvSpPr/>
          <p:nvPr/>
        </p:nvSpPr>
        <p:spPr>
          <a:xfrm>
            <a:off x="957648" y="34930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terceirizada bem reduzida na CD.</a:t>
            </a:r>
            <a:endParaRPr lang="en-US" sz="1100" dirty="0"/>
          </a:p>
        </p:txBody>
      </p:sp>
      <p:sp>
        <p:nvSpPr>
          <p:cNvPr id="29" name="Shape 8"/>
          <p:cNvSpPr/>
          <p:nvPr/>
        </p:nvSpPr>
        <p:spPr>
          <a:xfrm>
            <a:off x="729048" y="454456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30" name="Text 9"/>
          <p:cNvSpPr/>
          <p:nvPr/>
        </p:nvSpPr>
        <p:spPr>
          <a:xfrm>
            <a:off x="957648" y="46542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31" name="Text 10"/>
          <p:cNvSpPr/>
          <p:nvPr/>
        </p:nvSpPr>
        <p:spPr>
          <a:xfrm>
            <a:off x="957648" y="52029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houve Redução no mês </a:t>
            </a:r>
            <a:r>
              <a:rPr lang="en-US" sz="11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-programa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Jul)</a:t>
            </a:r>
            <a:endParaRPr lang="en-US" sz="1100" dirty="0"/>
          </a:p>
        </p:txBody>
      </p:sp>
      <p:sp>
        <p:nvSpPr>
          <p:cNvPr id="24" name="Retângulo Arredondado 23">
            <a:hlinkClick r:id="rId2" action="ppaction://hlinksldjump" tooltip="Voltar a Resumo"/>
          </p:cNvPr>
          <p:cNvSpPr/>
          <p:nvPr/>
        </p:nvSpPr>
        <p:spPr>
          <a:xfrm>
            <a:off x="5242560" y="5908820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25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0816611"/>
              </p:ext>
            </p:extLst>
          </p:nvPr>
        </p:nvGraphicFramePr>
        <p:xfrm>
          <a:off x="5019843" y="1819656"/>
          <a:ext cx="6699600" cy="330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79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242560" y="180409"/>
            <a:ext cx="679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Custo com Terceiros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4885862" y="1344168"/>
            <a:ext cx="715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com mão de obra terceirizada </a:t>
            </a:r>
            <a:r>
              <a:rPr lang="en-US" sz="1400" b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CDPE</a:t>
            </a:r>
            <a:r>
              <a:rPr lang="en-US" sz="1400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729048" y="170992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9" name="Text 3"/>
          <p:cNvSpPr/>
          <p:nvPr/>
        </p:nvSpPr>
        <p:spPr>
          <a:xfrm>
            <a:off x="957648" y="18196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7.668</a:t>
            </a:r>
            <a:endParaRPr lang="en-US" sz="2400" dirty="0"/>
          </a:p>
        </p:txBody>
      </p:sp>
      <p:sp>
        <p:nvSpPr>
          <p:cNvPr id="20" name="Text 4"/>
          <p:cNvSpPr/>
          <p:nvPr/>
        </p:nvSpPr>
        <p:spPr>
          <a:xfrm>
            <a:off x="957648" y="2368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gasto mensal, de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729048" y="312724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2" name="Text 6"/>
          <p:cNvSpPr/>
          <p:nvPr/>
        </p:nvSpPr>
        <p:spPr>
          <a:xfrm>
            <a:off x="957648" y="32369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-7%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>
            <a:off x="957648" y="37856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percentual no período</a:t>
            </a:r>
            <a:endParaRPr lang="en-US" sz="1100" dirty="0"/>
          </a:p>
        </p:txBody>
      </p:sp>
      <p:sp>
        <p:nvSpPr>
          <p:cNvPr id="32" name="Text 11"/>
          <p:cNvSpPr/>
          <p:nvPr/>
        </p:nvSpPr>
        <p:spPr>
          <a:xfrm>
            <a:off x="729048" y="60076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até Junho era 100% terceirizada, no mês vigente </a:t>
            </a:r>
            <a:r>
              <a:rPr lang="en-US" sz="1100" i="1" dirty="0" err="1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10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está em andamento a internalização.</a:t>
            </a:r>
            <a:endParaRPr lang="en-US" sz="1100" dirty="0"/>
          </a:p>
        </p:txBody>
      </p:sp>
      <p:sp>
        <p:nvSpPr>
          <p:cNvPr id="24" name="Retângulo Arredondado 23">
            <a:hlinkClick r:id="rId2" action="ppaction://hlinksldjump" tooltip="Voltar a Resumo"/>
          </p:cNvPr>
          <p:cNvSpPr/>
          <p:nvPr/>
        </p:nvSpPr>
        <p:spPr>
          <a:xfrm>
            <a:off x="5242560" y="5908820"/>
            <a:ext cx="1995354" cy="294119"/>
          </a:xfrm>
          <a:prstGeom prst="round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Voltar Resumo</a:t>
            </a:r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25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6168018"/>
              </p:ext>
            </p:extLst>
          </p:nvPr>
        </p:nvGraphicFramePr>
        <p:xfrm>
          <a:off x="4982773" y="1901736"/>
          <a:ext cx="6699600" cy="330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8"/>
          <p:cNvSpPr/>
          <p:nvPr/>
        </p:nvSpPr>
        <p:spPr>
          <a:xfrm>
            <a:off x="729048" y="454456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7" name="Text 9"/>
          <p:cNvSpPr/>
          <p:nvPr/>
        </p:nvSpPr>
        <p:spPr>
          <a:xfrm>
            <a:off x="957648" y="46542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</a:t>
            </a:r>
            <a:r>
              <a:rPr lang="en-US" sz="2400" b="1" dirty="0" smtClean="0">
                <a:solidFill>
                  <a:srgbClr val="2C8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10"/>
          <p:cNvSpPr/>
          <p:nvPr/>
        </p:nvSpPr>
        <p:spPr>
          <a:xfrm>
            <a:off x="957648" y="52029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houve Redução no mês </a:t>
            </a:r>
            <a:r>
              <a:rPr lang="en-US" sz="11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-programa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588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00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1" y="571501"/>
            <a:ext cx="1162050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219170"/>
            <a:r>
              <a:rPr lang="en-US" sz="3000" b="1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Abrangência e Contemplados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1" y="1223963"/>
            <a:ext cx="8572500" cy="389979"/>
          </a:xfrm>
          <a:prstGeom prst="rect">
            <a:avLst/>
          </a:prstGeom>
          <a:noFill/>
          <a:ln/>
        </p:spPr>
        <p:txBody>
          <a:bodyPr wrap="square" lIns="170011" tIns="0" rIns="0" bIns="0" rtlCol="0" anchor="t">
            <a:spAutoFit/>
          </a:bodyPr>
          <a:lstStyle/>
          <a:p>
            <a:pPr defTabSz="1219170"/>
            <a:r>
              <a:rPr lang="en-US" sz="126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piloto demonstrou impacto significativo na operação, com mais de 50% de aderência entre os colaboradores elegíveis e reconhecimento financeiro direto por performance.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85751" y="1833563"/>
            <a:ext cx="2232645" cy="857251"/>
          </a:xfrm>
          <a:prstGeom prst="rect">
            <a:avLst/>
          </a:prstGeom>
          <a:solidFill>
            <a:srgbClr val="FFFFFF"/>
          </a:solidFill>
          <a:ln w="9144">
            <a:solidFill>
              <a:srgbClr val="F0F0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1951" y="1919288"/>
            <a:ext cx="206499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2400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1.333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1951" y="2424112"/>
            <a:ext cx="206499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1000" kern="0" spc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QUADRO TOTAL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17440" y="1833563"/>
            <a:ext cx="2236440" cy="857251"/>
          </a:xfrm>
          <a:prstGeom prst="rect">
            <a:avLst/>
          </a:prstGeom>
          <a:solidFill>
            <a:srgbClr val="FFFFFF"/>
          </a:solidFill>
          <a:ln w="9144">
            <a:solidFill>
              <a:srgbClr val="F0F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97510" y="1919288"/>
            <a:ext cx="206886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2400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462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697510" y="2424112"/>
            <a:ext cx="206886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1000" kern="0" spc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ELEGÍVEIS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56870" y="1833563"/>
            <a:ext cx="2240309" cy="857251"/>
          </a:xfrm>
          <a:prstGeom prst="rect">
            <a:avLst/>
          </a:prstGeom>
          <a:solidFill>
            <a:srgbClr val="FFFFFF"/>
          </a:solidFill>
          <a:ln w="9144">
            <a:solidFill>
              <a:srgbClr val="F0F0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0661" y="1919288"/>
            <a:ext cx="207265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2400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240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40661" y="2424112"/>
            <a:ext cx="207265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1000" kern="0" spc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CONTEMPLADOS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03816" y="1833563"/>
            <a:ext cx="2244105" cy="857251"/>
          </a:xfrm>
          <a:prstGeom prst="rect">
            <a:avLst/>
          </a:prstGeom>
          <a:solidFill>
            <a:srgbClr val="FFFFFF"/>
          </a:solidFill>
          <a:ln w="9144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91400" y="1919288"/>
            <a:ext cx="207645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2400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51,9%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91400" y="2424112"/>
            <a:ext cx="207645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1000" kern="0" spc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ADERÊNCIA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658351" y="1833563"/>
            <a:ext cx="2247900" cy="857251"/>
          </a:xfrm>
          <a:prstGeom prst="rect">
            <a:avLst/>
          </a:prstGeom>
          <a:solidFill>
            <a:srgbClr val="003366"/>
          </a:solidFill>
          <a:ln w="9144">
            <a:solidFill>
              <a:srgbClr val="F0F0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49731" y="1909763"/>
            <a:ext cx="208024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R$ 8.705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749731" y="2414588"/>
            <a:ext cx="208024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defTabSz="1219170"/>
            <a:r>
              <a:rPr lang="en-US" sz="1000" kern="0" spc="1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TOTAL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1" y="2869407"/>
            <a:ext cx="195263" cy="17145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76263" y="2814638"/>
            <a:ext cx="5186363" cy="23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219170"/>
            <a:r>
              <a:rPr lang="en-US" sz="1533" dirty="0">
                <a:solidFill>
                  <a:srgbClr val="00336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Destaques: Top 10 Contemplados (por Valor Recebido)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285751" y="3198893"/>
            <a:ext cx="666464" cy="326864"/>
          </a:xfrm>
          <a:prstGeom prst="rect">
            <a:avLst/>
          </a:prstGeom>
          <a:noFill/>
          <a:ln/>
        </p:spPr>
        <p:txBody>
          <a:bodyPr wrap="none" lIns="68072" tIns="90763" rIns="68072" bIns="90763" rtlCol="0" anchor="ctr">
            <a:spAutoFit/>
          </a:bodyPr>
          <a:lstStyle/>
          <a:p>
            <a:pPr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Matrícula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737121" y="3198893"/>
            <a:ext cx="4062115" cy="326864"/>
          </a:xfrm>
          <a:prstGeom prst="rect">
            <a:avLst/>
          </a:prstGeom>
          <a:noFill/>
          <a:ln/>
        </p:spPr>
        <p:txBody>
          <a:bodyPr wrap="square" lIns="68072" tIns="90763" rIns="68072" bIns="90763" rtlCol="0" anchor="ctr">
            <a:spAutoFit/>
          </a:bodyPr>
          <a:lstStyle/>
          <a:p>
            <a:pPr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Nome do Colaborador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799237" y="3198893"/>
            <a:ext cx="2930203" cy="326864"/>
          </a:xfrm>
          <a:prstGeom prst="rect">
            <a:avLst/>
          </a:prstGeom>
          <a:noFill/>
          <a:ln/>
        </p:spPr>
        <p:txBody>
          <a:bodyPr wrap="square" lIns="68072" tIns="90763" rIns="68072" bIns="90763" rtlCol="0" anchor="ctr">
            <a:spAutoFit/>
          </a:bodyPr>
          <a:lstStyle/>
          <a:p>
            <a:pPr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Produção Acumulada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729439" y="3198893"/>
            <a:ext cx="409984" cy="326864"/>
          </a:xfrm>
          <a:prstGeom prst="rect">
            <a:avLst/>
          </a:prstGeom>
          <a:noFill/>
          <a:ln/>
        </p:spPr>
        <p:txBody>
          <a:bodyPr wrap="none" lIns="68072" tIns="90763" rIns="68072" bIns="90763" rtlCol="0" anchor="ctr">
            <a:spAutoFit/>
          </a:bodyPr>
          <a:lstStyle/>
          <a:p>
            <a:pPr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Faixa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9779199" y="3198893"/>
            <a:ext cx="2127052" cy="326864"/>
          </a:xfrm>
          <a:prstGeom prst="rect">
            <a:avLst/>
          </a:prstGeom>
          <a:noFill/>
          <a:ln/>
        </p:spPr>
        <p:txBody>
          <a:bodyPr wrap="square" lIns="68072" tIns="90763" rIns="68072" bIns="90763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Valor Recebido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285751" y="3542876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5954894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1737121" y="3542876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Vitor Manoel De Araujo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799237" y="3542876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392,16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8729439" y="3542876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9779199" y="3548038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R$ 310,23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285751" y="38500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5517508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1737121" y="38500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Jhonathan Lucas Dantas Guedes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5799237" y="38500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277,32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8729439" y="38500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9779199" y="38552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R$ 272,95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285751" y="41548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5690005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1737121" y="41548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Nelson Henrique Gomes Alves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5799237" y="41548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246,68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729439" y="41548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9779199" y="41600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R$ 244,39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285751" y="44596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5665884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737121" y="44596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Leandro De Oliveira Rocha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799237" y="44596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248,12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8729439" y="44596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9779199" y="44648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R$ 234,94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285751" y="47644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5941075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1737121" y="47644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Eduardo Cecilio Sizilio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5799237" y="47644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219,52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8729439" y="47644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9779199" y="47696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R$ 219,39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285751" y="50692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5940427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1737121" y="50692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Gabriel Da Silva Sousa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5799237" y="50692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204,44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8729439" y="50692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9779199" y="50744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R$ 204,44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3"/>
          <p:cNvSpPr/>
          <p:nvPr/>
        </p:nvSpPr>
        <p:spPr>
          <a:xfrm>
            <a:off x="285751" y="53740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5954932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1737121" y="53740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Jeferson Rodrigues Dos Santos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5"/>
          <p:cNvSpPr/>
          <p:nvPr/>
        </p:nvSpPr>
        <p:spPr>
          <a:xfrm>
            <a:off x="5799237" y="53740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186,84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8729439" y="53740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9779199" y="53792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R$ 186,84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8"/>
          <p:cNvSpPr/>
          <p:nvPr/>
        </p:nvSpPr>
        <p:spPr>
          <a:xfrm>
            <a:off x="285751" y="56788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5816220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59"/>
          <p:cNvSpPr/>
          <p:nvPr/>
        </p:nvSpPr>
        <p:spPr>
          <a:xfrm>
            <a:off x="1737121" y="56788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Matheus Oliveira Da Silva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0"/>
          <p:cNvSpPr/>
          <p:nvPr/>
        </p:nvSpPr>
        <p:spPr>
          <a:xfrm>
            <a:off x="5799237" y="56788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185,20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8729439" y="56788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2"/>
          <p:cNvSpPr/>
          <p:nvPr/>
        </p:nvSpPr>
        <p:spPr>
          <a:xfrm>
            <a:off x="9779199" y="56840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R$ 185,20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3"/>
          <p:cNvSpPr/>
          <p:nvPr/>
        </p:nvSpPr>
        <p:spPr>
          <a:xfrm>
            <a:off x="285751" y="59836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5954940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4"/>
          <p:cNvSpPr/>
          <p:nvPr/>
        </p:nvSpPr>
        <p:spPr>
          <a:xfrm>
            <a:off x="1737121" y="59836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Jose Lucas Da Silva De Lima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5799237" y="59836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179,52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6"/>
          <p:cNvSpPr/>
          <p:nvPr/>
        </p:nvSpPr>
        <p:spPr>
          <a:xfrm>
            <a:off x="8729439" y="59836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7"/>
          <p:cNvSpPr/>
          <p:nvPr/>
        </p:nvSpPr>
        <p:spPr>
          <a:xfrm>
            <a:off x="9779199" y="59888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R$ 179,52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68"/>
          <p:cNvSpPr/>
          <p:nvPr/>
        </p:nvSpPr>
        <p:spPr>
          <a:xfrm>
            <a:off x="285751" y="6288457"/>
            <a:ext cx="631198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5873917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69"/>
          <p:cNvSpPr/>
          <p:nvPr/>
        </p:nvSpPr>
        <p:spPr>
          <a:xfrm>
            <a:off x="1737121" y="6288457"/>
            <a:ext cx="4062115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Gabriel Bezerra Cavalcante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0"/>
          <p:cNvSpPr/>
          <p:nvPr/>
        </p:nvSpPr>
        <p:spPr>
          <a:xfrm>
            <a:off x="5799237" y="6288457"/>
            <a:ext cx="2930203" cy="2913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173,08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1"/>
          <p:cNvSpPr/>
          <p:nvPr/>
        </p:nvSpPr>
        <p:spPr>
          <a:xfrm>
            <a:off x="8729439" y="6288457"/>
            <a:ext cx="533416" cy="291362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Faixa 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2"/>
          <p:cNvSpPr/>
          <p:nvPr/>
        </p:nvSpPr>
        <p:spPr>
          <a:xfrm>
            <a:off x="9779199" y="6293619"/>
            <a:ext cx="2127052" cy="28103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r" defTabSz="1219170"/>
            <a:r>
              <a:rPr lang="en-US" sz="933" b="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R$ 173,08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3"/>
          <p:cNvSpPr/>
          <p:nvPr/>
        </p:nvSpPr>
        <p:spPr>
          <a:xfrm>
            <a:off x="285751" y="7000875"/>
            <a:ext cx="6667500" cy="225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219170"/>
            <a:r>
              <a:rPr lang="en-US" sz="733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A base considera o quadro operacional da estrutura A até AG. Apenas colaboradores elegíveis participaram da apuração. O pagamento respeitou os critérios de produtividade, qualidade, segurança e disciplina definidos no regulamento do piloto.</a:t>
            </a:r>
            <a:endParaRPr lang="en-US" sz="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4"/>
          <p:cNvSpPr/>
          <p:nvPr/>
        </p:nvSpPr>
        <p:spPr>
          <a:xfrm>
            <a:off x="11408100" y="6891337"/>
            <a:ext cx="498149" cy="229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defTabSz="1219170">
              <a:lnSpc>
                <a:spcPct val="80000"/>
              </a:lnSpc>
            </a:pPr>
            <a:r>
              <a:rPr lang="en-US" sz="1867" b="1" kern="0" spc="-1" dirty="0">
                <a:solidFill>
                  <a:srgbClr val="00336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GPA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5"/>
          <p:cNvSpPr/>
          <p:nvPr/>
        </p:nvSpPr>
        <p:spPr>
          <a:xfrm>
            <a:off x="10926816" y="7158037"/>
            <a:ext cx="979434" cy="102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defTabSz="1219170"/>
            <a:r>
              <a:rPr lang="en-US" sz="667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GRUPO PÃO DE AÇÚCAR</a:t>
            </a:r>
            <a:endParaRPr lang="en-US" sz="6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1061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318348" y="436193"/>
            <a:ext cx="5959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Próximos Passos</a:t>
            </a:r>
            <a:endParaRPr lang="en-US" sz="3000" dirty="0"/>
          </a:p>
        </p:txBody>
      </p:sp>
      <p:sp>
        <p:nvSpPr>
          <p:cNvPr id="12" name="Shape 1"/>
          <p:cNvSpPr/>
          <p:nvPr/>
        </p:nvSpPr>
        <p:spPr>
          <a:xfrm>
            <a:off x="442372" y="22402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2"/>
          <p:cNvSpPr/>
          <p:nvPr/>
        </p:nvSpPr>
        <p:spPr>
          <a:xfrm>
            <a:off x="442372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3"/>
          <p:cNvSpPr/>
          <p:nvPr/>
        </p:nvSpPr>
        <p:spPr>
          <a:xfrm>
            <a:off x="1036732" y="219456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se pagou com folga: R$ 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0,0216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caixa extra gerada é um custo baixo, e a redução de custo com terceiros no 1º mês já superou todo o investimento em premiação.</a:t>
            </a:r>
            <a:endParaRPr lang="en-US" sz="1400" dirty="0"/>
          </a:p>
        </p:txBody>
      </p:sp>
      <p:sp>
        <p:nvSpPr>
          <p:cNvPr id="15" name="Shape 4"/>
          <p:cNvSpPr/>
          <p:nvPr/>
        </p:nvSpPr>
        <p:spPr>
          <a:xfrm>
            <a:off x="442372" y="3200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5"/>
          <p:cNvSpPr/>
          <p:nvPr/>
        </p:nvSpPr>
        <p:spPr>
          <a:xfrm>
            <a:off x="442372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6"/>
          <p:cNvSpPr/>
          <p:nvPr/>
        </p:nvSpPr>
        <p:spPr>
          <a:xfrm>
            <a:off x="1036732" y="315468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mensal 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de 13,5% (+100 HC)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espaço para crescer — vale entender o que diferencia quem atinge a meta e replicar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condições.</a:t>
            </a:r>
            <a:endParaRPr lang="en-US" sz="1400" dirty="0"/>
          </a:p>
        </p:txBody>
      </p:sp>
      <p:sp>
        <p:nvSpPr>
          <p:cNvPr id="22" name="Shape 7"/>
          <p:cNvSpPr/>
          <p:nvPr/>
        </p:nvSpPr>
        <p:spPr>
          <a:xfrm>
            <a:off x="442372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8"/>
          <p:cNvSpPr/>
          <p:nvPr/>
        </p:nvSpPr>
        <p:spPr>
          <a:xfrm>
            <a:off x="442372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9"/>
          <p:cNvSpPr/>
          <p:nvPr/>
        </p:nvSpPr>
        <p:spPr>
          <a:xfrm>
            <a:off x="1036732" y="411480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evoluiu contratados,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produzindo em ritmo elevado, reforçando o poder de atração do programa.</a:t>
            </a:r>
            <a:endParaRPr lang="en-US" sz="1400" dirty="0"/>
          </a:p>
        </p:txBody>
      </p:sp>
      <p:sp>
        <p:nvSpPr>
          <p:cNvPr id="26" name="Shape 10"/>
          <p:cNvSpPr/>
          <p:nvPr/>
        </p:nvSpPr>
        <p:spPr>
          <a:xfrm>
            <a:off x="442372" y="5120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11"/>
          <p:cNvSpPr/>
          <p:nvPr/>
        </p:nvSpPr>
        <p:spPr>
          <a:xfrm>
            <a:off x="44237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12"/>
          <p:cNvSpPr/>
          <p:nvPr/>
        </p:nvSpPr>
        <p:spPr>
          <a:xfrm>
            <a:off x="1036732" y="50749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no gasto com terceiros se acentua a partir do início do programa, reforçando a relação entre produtividade interna e menor dependência de terceiros.</a:t>
            </a:r>
            <a:endParaRPr lang="en-US" sz="1400" dirty="0"/>
          </a:p>
        </p:txBody>
      </p:sp>
      <p:sp>
        <p:nvSpPr>
          <p:cNvPr id="34" name="Shape 10"/>
          <p:cNvSpPr/>
          <p:nvPr/>
        </p:nvSpPr>
        <p:spPr>
          <a:xfrm>
            <a:off x="442372" y="60502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r>
              <a:rPr lang="pt-BR" sz="1200" dirty="0" smtClean="0">
                <a:solidFill>
                  <a:schemeClr val="bg1"/>
                </a:solidFill>
              </a:rPr>
              <a:t>5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5" name="Text 11"/>
          <p:cNvSpPr/>
          <p:nvPr/>
        </p:nvSpPr>
        <p:spPr>
          <a:xfrm>
            <a:off x="594772" y="527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12"/>
          <p:cNvSpPr/>
          <p:nvPr/>
        </p:nvSpPr>
        <p:spPr>
          <a:xfrm>
            <a:off x="1036732" y="57988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futuramente redução do target inicial para cada CDs, focando em buscar mais inclusão e engajamento.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665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10561</TotalTime>
  <Words>1703</Words>
  <Application>Microsoft Office PowerPoint</Application>
  <PresentationFormat>Widescreen</PresentationFormat>
  <Paragraphs>284</Paragraphs>
  <Slides>19</Slides>
  <Notes>1</Notes>
  <HiddenSlides>11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Open Sans</vt:lpstr>
      <vt:lpstr>Open Sans Bold</vt:lpstr>
      <vt:lpstr>Playfair Display 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Vagner Nere Ferreira</cp:lastModifiedBy>
  <cp:revision>93</cp:revision>
  <dcterms:created xsi:type="dcterms:W3CDTF">2026-07-17T20:38:13Z</dcterms:created>
  <dcterms:modified xsi:type="dcterms:W3CDTF">2026-08-05T19:50:41Z</dcterms:modified>
</cp:coreProperties>
</file>