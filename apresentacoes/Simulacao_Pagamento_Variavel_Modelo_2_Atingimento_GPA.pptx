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0088" y="1405533"/>
            <a:ext cx="640018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C628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ESTUDO ANALÍTICO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700088" y="1737717"/>
            <a:ext cx="6400186" cy="9900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3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Simulação de</a:t>
            </a:r>
            <a:r>
              <a:rPr lang="en-US" sz="3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3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Pagamento Variável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700088" y="2927821"/>
            <a:ext cx="5429250" cy="260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modelos para os Centros de Distribuição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0088" y="3580749"/>
            <a:ext cx="640018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JULHO DE 2026 | BASE CDs.xlsx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 rot="5400000">
            <a:off x="8136731" y="4189809"/>
            <a:ext cx="571500" cy="5036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2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268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 | ENQUADRAMENTO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Objetivo do estudo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557213" y="1446609"/>
            <a:ext cx="4106987" cy="3480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Transformar o realizado </a:t>
            </a:r>
            <a:r>
              <a:rPr lang="en-US" sz="1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operacional em uma decisão </a:t>
            </a:r>
            <a:r>
              <a:rPr lang="en-US" sz="1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 pagamento variável </a:t>
            </a:r>
            <a:r>
              <a:rPr lang="en-US" sz="1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comparável e auditável</a:t>
            </a:r>
            <a:r>
              <a:rPr lang="en-US" sz="19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164262" y="1625203"/>
            <a:ext cx="342252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164262" y="1868091"/>
            <a:ext cx="342252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Comparar alternativas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164262" y="2078831"/>
            <a:ext cx="342252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Avaliar quatro lógicas de incentivo sobre os mesmos dados.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64262" y="2785281"/>
            <a:ext cx="342252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164262" y="3028169"/>
            <a:ext cx="342252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Quantificar impacto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64262" y="3238909"/>
            <a:ext cx="342252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Calcular elegibilidade e custo por CD, colaborador e atividade.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64262" y="3945359"/>
            <a:ext cx="342252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64262" y="4188247"/>
            <a:ext cx="3422526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Apoiar a decisão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64262" y="4398987"/>
            <a:ext cx="3422526" cy="32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Evidenciar trade-offs entre simplicidade, aderência e controle.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 | Base e escopo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base permite uma análise nominal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57213" y="1671638"/>
            <a:ext cx="1685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2.494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557213" y="2214563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registros operacionais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564606" y="1671638"/>
            <a:ext cx="1685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7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2564606" y="2214563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centros de distribuição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0" y="1671638"/>
            <a:ext cx="1685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2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4572000" y="2214563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categorias de empresa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79394" y="1671638"/>
            <a:ext cx="16859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5</a:t>
            </a:r>
            <a:endParaRPr lang="en-US" sz="2850" dirty="0"/>
          </a:p>
        </p:txBody>
      </p:sp>
      <p:sp>
        <p:nvSpPr>
          <p:cNvPr id="12" name="Text 9"/>
          <p:cNvSpPr/>
          <p:nvPr/>
        </p:nvSpPr>
        <p:spPr>
          <a:xfrm>
            <a:off x="6579394" y="2214563"/>
            <a:ext cx="16859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atividades principais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7213" y="2828925"/>
            <a:ext cx="8029575" cy="8143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7213" y="2828925"/>
            <a:ext cx="8029575" cy="814388"/>
          </a:xfrm>
          <a:prstGeom prst="rect">
            <a:avLst/>
          </a:prstGeom>
          <a:noFill/>
          <a:ln/>
        </p:spPr>
        <p:txBody>
          <a:bodyPr wrap="square" lIns="238125" tIns="204089" rIns="238125" bIns="204089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C628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Rastreabilidade:</a:t>
            </a:r>
            <a:r>
              <a:rPr lang="en-US" sz="10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 aba </a:t>
            </a:r>
            <a:r>
              <a:rPr lang="en-US" sz="10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Din_Labor%</a:t>
            </a:r>
            <a:r>
              <a:rPr lang="en-US" sz="10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é agregada por CD e atividade. O cálculo por nome utiliza a aba </a:t>
            </a:r>
            <a:r>
              <a:rPr lang="en-US" sz="10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</a:t>
            </a:r>
            <a:r>
              <a:rPr lang="en-US" sz="10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10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 contém colaborador, quantidade, horas, produtividade e meta.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5775" y="400050"/>
            <a:ext cx="81724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 | METODOLOGIA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85775" y="625078"/>
            <a:ext cx="817245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Quatro modelos, quatro lógicas de incentivo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85775" y="1328738"/>
            <a:ext cx="1935956" cy="32146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650" y="1507331"/>
            <a:ext cx="16502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01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28650" y="1700213"/>
            <a:ext cx="16502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Fator de Performance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8650" y="2200275"/>
            <a:ext cx="1650206" cy="492919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Shape 6"/>
          <p:cNvSpPr/>
          <p:nvPr/>
        </p:nvSpPr>
        <p:spPr>
          <a:xfrm>
            <a:off x="628650" y="2200275"/>
            <a:ext cx="42863" cy="492919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7"/>
          <p:cNvSpPr/>
          <p:nvPr/>
        </p:nvSpPr>
        <p:spPr>
          <a:xfrm>
            <a:off x="735806" y="2307431"/>
            <a:ext cx="143589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FÓRMULA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35806" y="2446734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Produtividade ÷ Meta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28650" y="2836069"/>
            <a:ext cx="1650206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Lógica decimal simples. O bônus é disparado conforme o fator resultante (ex: 1.5, 2.0).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564606" y="1328738"/>
            <a:ext cx="1935956" cy="32146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7481" y="1507331"/>
            <a:ext cx="16502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02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2707481" y="1700213"/>
            <a:ext cx="16502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% de Atingimento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07481" y="2200275"/>
            <a:ext cx="1650206" cy="492919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Shape 14"/>
          <p:cNvSpPr/>
          <p:nvPr/>
        </p:nvSpPr>
        <p:spPr>
          <a:xfrm>
            <a:off x="2707481" y="2200275"/>
            <a:ext cx="42863" cy="492919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5"/>
          <p:cNvSpPr/>
          <p:nvPr/>
        </p:nvSpPr>
        <p:spPr>
          <a:xfrm>
            <a:off x="2814638" y="2307431"/>
            <a:ext cx="143589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FÓRMULA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814638" y="2446734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(Prod. ÷ Meta) × 100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07481" y="2836069"/>
            <a:ext cx="165020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Visão percentual clássica. Faixas de 100% a 160% conforme definido na aba Simulação_Faixa.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643438" y="1328738"/>
            <a:ext cx="1935956" cy="32146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86313" y="1507331"/>
            <a:ext cx="16502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03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86313" y="1700213"/>
            <a:ext cx="16502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Meta × Horas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86313" y="2200275"/>
            <a:ext cx="1650206" cy="492919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Shape 22"/>
          <p:cNvSpPr/>
          <p:nvPr/>
        </p:nvSpPr>
        <p:spPr>
          <a:xfrm>
            <a:off x="4786313" y="2200275"/>
            <a:ext cx="42863" cy="492919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6" name="Text 23"/>
          <p:cNvSpPr/>
          <p:nvPr/>
        </p:nvSpPr>
        <p:spPr>
          <a:xfrm>
            <a:off x="4893469" y="2307431"/>
            <a:ext cx="143589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FÓRMULA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893469" y="2446734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Qtd ÷ (Meta × Horas)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86313" y="2836069"/>
            <a:ext cx="165020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Validação física. Compara a produção real com o alvo teórico ajustado pelo tempo logado.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6722269" y="1328738"/>
            <a:ext cx="1935956" cy="3214688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65144" y="1507331"/>
            <a:ext cx="165020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04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6865144" y="1700213"/>
            <a:ext cx="165020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Produtividade Direta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65144" y="2200275"/>
            <a:ext cx="1650206" cy="492919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Shape 30"/>
          <p:cNvSpPr/>
          <p:nvPr/>
        </p:nvSpPr>
        <p:spPr>
          <a:xfrm>
            <a:off x="6865144" y="2200275"/>
            <a:ext cx="42863" cy="492919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4" name="Text 31"/>
          <p:cNvSpPr/>
          <p:nvPr/>
        </p:nvSpPr>
        <p:spPr>
          <a:xfrm>
            <a:off x="6972300" y="2307431"/>
            <a:ext cx="143589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FÓRMULA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6972300" y="2446734"/>
            <a:ext cx="1435894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(Qtd ÷ Horas) ÷ Meta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865144" y="2836069"/>
            <a:ext cx="1650206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Auditoria de eficiência. Recalcula a produtividade real e a compara com a meta estabelecida.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0119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 | MODELO EM DESTAQUE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39366"/>
            <a:ext cx="8029575" cy="7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% de Atingimento traduz o desempenho em uma linguagem simples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57213" y="1447949"/>
            <a:ext cx="80295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régua percentual facilita a comunicação, a auditoria e a percepção de justiça do incentivo.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57213" y="1855143"/>
            <a:ext cx="8029575" cy="478631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7" name="Shape 4"/>
          <p:cNvSpPr/>
          <p:nvPr/>
        </p:nvSpPr>
        <p:spPr>
          <a:xfrm>
            <a:off x="557213" y="1855143"/>
            <a:ext cx="85725" cy="478631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8" name="Text 5"/>
          <p:cNvSpPr/>
          <p:nvPr/>
        </p:nvSpPr>
        <p:spPr>
          <a:xfrm>
            <a:off x="700088" y="2015877"/>
            <a:ext cx="16930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FÓRMULA DO MODELO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8478" y="1955155"/>
            <a:ext cx="347543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D54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(Produtividade ÷ Meta) × 100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7213" y="2476649"/>
            <a:ext cx="4759133" cy="2624491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4356" y="2476649"/>
            <a:ext cx="2660433" cy="289322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12" name="Text 9"/>
          <p:cNvSpPr/>
          <p:nvPr/>
        </p:nvSpPr>
        <p:spPr>
          <a:xfrm>
            <a:off x="564356" y="2476649"/>
            <a:ext cx="2660433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FAIXA DE ATINGIMENTO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24789" y="2476649"/>
            <a:ext cx="2084412" cy="289322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14" name="Text 11"/>
          <p:cNvSpPr/>
          <p:nvPr/>
        </p:nvSpPr>
        <p:spPr>
          <a:xfrm>
            <a:off x="3224789" y="2476649"/>
            <a:ext cx="2084412" cy="289322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VALOR DO BÔNUS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64356" y="2765971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&gt; 100% a &lt; 110%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224789" y="2765971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4356" y="3098546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110% a 120%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24789" y="3098546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4356" y="3431121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120% a 130%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24789" y="3431121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4356" y="3763696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130% a 140%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224789" y="3763696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4356" y="4096271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140% a 150%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224789" y="4096271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R$ 100,00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4356" y="4428846"/>
            <a:ext cx="4744845" cy="332575"/>
          </a:xfrm>
          <a:prstGeom prst="rect">
            <a:avLst/>
          </a:prstGeom>
          <a:solidFill>
            <a:srgbClr val="FFF2CC"/>
          </a:solidFill>
          <a:ln/>
        </p:spPr>
      </p:sp>
      <p:sp>
        <p:nvSpPr>
          <p:cNvPr id="26" name="Text 23"/>
          <p:cNvSpPr/>
          <p:nvPr/>
        </p:nvSpPr>
        <p:spPr>
          <a:xfrm>
            <a:off x="564356" y="4428846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150% a 160%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224789" y="4428846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R$ 250,00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4356" y="4761421"/>
            <a:ext cx="2660433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&gt; 160%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24789" y="4761421"/>
            <a:ext cx="2084412" cy="3325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R$ 750,00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516370" y="2476649"/>
            <a:ext cx="3070361" cy="936501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02095" y="2562374"/>
            <a:ext cx="28989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5506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REGISTROS ELEGÍVEIS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602095" y="2726680"/>
            <a:ext cx="2898911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847</a:t>
            </a:r>
            <a:endParaRPr lang="en-US" sz="1900" dirty="0"/>
          </a:p>
        </p:txBody>
      </p:sp>
      <p:sp>
        <p:nvSpPr>
          <p:cNvPr id="33" name="Text 30"/>
          <p:cNvSpPr/>
          <p:nvPr/>
        </p:nvSpPr>
        <p:spPr>
          <a:xfrm>
            <a:off x="5602095" y="3101727"/>
            <a:ext cx="2898911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maior que zero e produtividade válida.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516370" y="3427437"/>
            <a:ext cx="3070361" cy="936501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602095" y="3513162"/>
            <a:ext cx="289891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455065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CUSTO ESTIMADO DO MODELO 2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602095" y="3677469"/>
            <a:ext cx="2898911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R$ 215.200</a:t>
            </a:r>
            <a:endParaRPr lang="en-US" sz="1900" dirty="0"/>
          </a:p>
        </p:txBody>
      </p:sp>
      <p:sp>
        <p:nvSpPr>
          <p:cNvPr id="37" name="Text 34"/>
          <p:cNvSpPr/>
          <p:nvPr/>
        </p:nvSpPr>
        <p:spPr>
          <a:xfrm>
            <a:off x="5602095" y="4052515"/>
            <a:ext cx="2898911" cy="1542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Cenário aplicado sobre a base de julho de 2026.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516370" y="4378226"/>
            <a:ext cx="3070361" cy="580039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Leitura executiva: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modelo é mais intuitivo que o 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fator decimal, mas precisa de validação da régua por 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atividade e de tratamento das metas zeradas.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05 | IMPACTO FINANCEIRO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722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% de Atingimento é a referência mais clara para a decisão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57213" y="1590824"/>
            <a:ext cx="4561898" cy="3000375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8" y="1790849"/>
            <a:ext cx="4089797" cy="250031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40580" y="1590824"/>
            <a:ext cx="3146152" cy="1477194"/>
          </a:xfrm>
          <a:prstGeom prst="rect">
            <a:avLst/>
          </a:prstGeom>
          <a:solidFill>
            <a:srgbClr val="FFF2CC"/>
          </a:solidFill>
          <a:ln w="45720">
            <a:solidFill>
              <a:srgbClr val="C628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597742" y="1747986"/>
            <a:ext cx="283182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2 — % DE ATINGIMENTO</a:t>
            </a:r>
            <a:endParaRPr lang="en-US" sz="700" dirty="0"/>
          </a:p>
        </p:txBody>
      </p:sp>
      <p:sp>
        <p:nvSpPr>
          <p:cNvPr id="9" name="Text 5"/>
          <p:cNvSpPr/>
          <p:nvPr/>
        </p:nvSpPr>
        <p:spPr>
          <a:xfrm>
            <a:off x="5597742" y="1926580"/>
            <a:ext cx="2831827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R$ 215.200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5597742" y="2348061"/>
            <a:ext cx="2831827" cy="4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847 registros elegíveis.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modelo comunica o 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desempenho em percentual e mantém </a:t>
            </a: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rastreabilidade simples.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440580" y="3096592"/>
            <a:ext cx="3146152" cy="456419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Comparação:</a:t>
            </a: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 Modelo 1 custa R$ 72.550, enquanto </a:t>
            </a: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Modelos 3 e 4 chegam a R$ 217.000.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5440580" y="3681599"/>
            <a:ext cx="3146152" cy="777887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3" name="Text 9"/>
          <p:cNvSpPr/>
          <p:nvPr/>
        </p:nvSpPr>
        <p:spPr>
          <a:xfrm>
            <a:off x="5440580" y="3681599"/>
            <a:ext cx="3146152" cy="777887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Decisão sugerida: validar o Modelo 2 como linguagem oficial do incentivo e homologar sua régua por atividade.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185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06 | AUDITORIA DE DADOS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57213" y="653653"/>
            <a:ext cx="8029575" cy="76438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57213" y="653653"/>
            <a:ext cx="71438" cy="764381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6" name="Text 3"/>
          <p:cNvSpPr/>
          <p:nvPr/>
        </p:nvSpPr>
        <p:spPr>
          <a:xfrm>
            <a:off x="557213" y="653653"/>
            <a:ext cx="8029575" cy="76438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elegibilidade muda conforme a qualidade do dado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57213" y="1775222"/>
            <a:ext cx="3454952" cy="3243263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2700" y="1989534"/>
            <a:ext cx="2803922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COMPOSIÇÃO DA BASE (REGISTROS)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307431"/>
            <a:ext cx="2953941" cy="2143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63154" y="4593431"/>
            <a:ext cx="12430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5A92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Total: 2.494 registros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455077" y="1789509"/>
            <a:ext cx="1359322" cy="350044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2" name="Text 8"/>
          <p:cNvSpPr/>
          <p:nvPr/>
        </p:nvSpPr>
        <p:spPr>
          <a:xfrm>
            <a:off x="4455077" y="1789509"/>
            <a:ext cx="1359322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STATUS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5814399" y="1789509"/>
            <a:ext cx="906196" cy="350044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4" name="Text 10"/>
          <p:cNvSpPr/>
          <p:nvPr/>
        </p:nvSpPr>
        <p:spPr>
          <a:xfrm>
            <a:off x="5814399" y="1789509"/>
            <a:ext cx="906196" cy="350044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REGISTROS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6720594" y="1789509"/>
            <a:ext cx="1851906" cy="350044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6" name="Text 12"/>
          <p:cNvSpPr/>
          <p:nvPr/>
        </p:nvSpPr>
        <p:spPr>
          <a:xfrm>
            <a:off x="6720594" y="1789509"/>
            <a:ext cx="1851906" cy="3500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MOTIVO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455077" y="2139553"/>
            <a:ext cx="1359322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455077" y="2503884"/>
            <a:ext cx="1359322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5"/>
          <p:cNvSpPr/>
          <p:nvPr/>
        </p:nvSpPr>
        <p:spPr>
          <a:xfrm>
            <a:off x="4455077" y="2139553"/>
            <a:ext cx="1359322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Elegíveis (M1/2)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814399" y="2139553"/>
            <a:ext cx="906196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5814399" y="2503884"/>
            <a:ext cx="90619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8"/>
          <p:cNvSpPr/>
          <p:nvPr/>
        </p:nvSpPr>
        <p:spPr>
          <a:xfrm>
            <a:off x="5814399" y="2139553"/>
            <a:ext cx="906196" cy="37861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847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720594" y="2139553"/>
            <a:ext cx="1851906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0"/>
          <p:cNvSpPr/>
          <p:nvPr/>
        </p:nvSpPr>
        <p:spPr>
          <a:xfrm>
            <a:off x="6720594" y="2503884"/>
            <a:ext cx="185190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594" y="2139553"/>
            <a:ext cx="185190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&gt; 0 e Prod. Válida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455077" y="2511028"/>
            <a:ext cx="1359322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3"/>
          <p:cNvSpPr/>
          <p:nvPr/>
        </p:nvSpPr>
        <p:spPr>
          <a:xfrm>
            <a:off x="4455077" y="2875359"/>
            <a:ext cx="1359322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4"/>
          <p:cNvSpPr/>
          <p:nvPr/>
        </p:nvSpPr>
        <p:spPr>
          <a:xfrm>
            <a:off x="4455077" y="2511028"/>
            <a:ext cx="1359322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Elegíveis (M3/4)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814399" y="2511028"/>
            <a:ext cx="906196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6"/>
          <p:cNvSpPr/>
          <p:nvPr/>
        </p:nvSpPr>
        <p:spPr>
          <a:xfrm>
            <a:off x="5814399" y="2875359"/>
            <a:ext cx="90619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7"/>
          <p:cNvSpPr/>
          <p:nvPr/>
        </p:nvSpPr>
        <p:spPr>
          <a:xfrm>
            <a:off x="5814399" y="2511028"/>
            <a:ext cx="906196" cy="378619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844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6720594" y="2511028"/>
            <a:ext cx="1851906" cy="378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6720594" y="2875359"/>
            <a:ext cx="185190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0"/>
          <p:cNvSpPr/>
          <p:nvPr/>
        </p:nvSpPr>
        <p:spPr>
          <a:xfrm>
            <a:off x="6720594" y="2511028"/>
            <a:ext cx="1851906" cy="37861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Qtd e Horas Válidas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455077" y="2882503"/>
            <a:ext cx="1359322" cy="385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2"/>
          <p:cNvSpPr/>
          <p:nvPr/>
        </p:nvSpPr>
        <p:spPr>
          <a:xfrm>
            <a:off x="4455077" y="3253978"/>
            <a:ext cx="1359322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3"/>
          <p:cNvSpPr/>
          <p:nvPr/>
        </p:nvSpPr>
        <p:spPr>
          <a:xfrm>
            <a:off x="4455077" y="2882503"/>
            <a:ext cx="1359322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Excluídos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5814399" y="2882503"/>
            <a:ext cx="906196" cy="385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5"/>
          <p:cNvSpPr/>
          <p:nvPr/>
        </p:nvSpPr>
        <p:spPr>
          <a:xfrm>
            <a:off x="5814399" y="3253978"/>
            <a:ext cx="90619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0" name="Text 36"/>
          <p:cNvSpPr/>
          <p:nvPr/>
        </p:nvSpPr>
        <p:spPr>
          <a:xfrm>
            <a:off x="5814399" y="2882503"/>
            <a:ext cx="906196" cy="385763"/>
          </a:xfrm>
          <a:prstGeom prst="rect">
            <a:avLst/>
          </a:prstGeom>
          <a:noFill/>
          <a:ln/>
        </p:spPr>
        <p:txBody>
          <a:bodyPr wrap="non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1.647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720594" y="2882503"/>
            <a:ext cx="1851906" cy="3857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8"/>
          <p:cNvSpPr/>
          <p:nvPr/>
        </p:nvSpPr>
        <p:spPr>
          <a:xfrm>
            <a:off x="6720594" y="3253978"/>
            <a:ext cx="1851906" cy="14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Text 39"/>
          <p:cNvSpPr/>
          <p:nvPr/>
        </p:nvSpPr>
        <p:spPr>
          <a:xfrm>
            <a:off x="6720594" y="2882503"/>
            <a:ext cx="1851906" cy="385763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 Zero ou Inválida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4440789" y="3461147"/>
            <a:ext cx="4145998" cy="88426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45506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Impacto Crítico:</a:t>
            </a: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66% da base foi desconsiderada para </a:t>
            </a: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pagamento devido a inconsistências ou metas não cadastradas. </a:t>
            </a: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homologação do modelo exige o saneamento prévio destes </a:t>
            </a: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cadastros.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53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07 | GOVERNANÇA DA DECISÃO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691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decisão deve ser tomada por CD,</a:t>
            </a: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não apenas pelo total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792956" y="1738052"/>
            <a:ext cx="391019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Visão Granular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2956" y="1988083"/>
            <a:ext cx="3910199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planilha consolida valor, elegibilidade e ticket médio por CD e colaborador, permitindo identificar distorções locais.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92956" y="2598093"/>
            <a:ext cx="391019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Rastreabilidade Total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2956" y="2848124"/>
            <a:ext cx="391019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detalhamento nominal no Excel permite localizar exatamente onde estão as concentrações de custo e as exclusões.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92956" y="3638122"/>
            <a:ext cx="391019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Filtros Operacionais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2956" y="3888153"/>
            <a:ext cx="3910199" cy="539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decisão deve considerar o ranking de performance ajustado, separando o efeito de mix de atividades da eficiência real.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131780" y="1702333"/>
            <a:ext cx="3455008" cy="2725787"/>
          </a:xfrm>
          <a:prstGeom prst="rect">
            <a:avLst/>
          </a:prstGeom>
          <a:solidFill>
            <a:srgbClr val="FFFFFF"/>
          </a:solidFill>
          <a:ln w="4572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81811" y="2381213"/>
            <a:ext cx="295494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ATENÇÃO CRÍTICA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81811" y="2731257"/>
            <a:ext cx="2954945" cy="1017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CDs com </a:t>
            </a:r>
            <a:r>
              <a:rPr lang="en-US" sz="950" b="1" dirty="0">
                <a:solidFill>
                  <a:srgbClr val="17203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meta zero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não devem ser 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comparados diretamente com unidades 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meta válida. O atingimento de 100% 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nesses casos é um viés de dado que </a:t>
            </a:r>
            <a:r>
              <a:rPr lang="en-US" sz="1000" dirty="0">
                <a:solidFill>
                  <a:srgbClr val="1720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precisa ser isolado na aprovação final.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213" y="4713870"/>
            <a:ext cx="80295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999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CONSULTE A ABA "SIMULAÇÃO DE REDUÇÃO" PARA O DETALHAMENTO NOMINAL COMPLETO.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520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08 | CONSISTÊNCIA DE DADOS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Modelos 3 e 4 funcionam como</a:t>
            </a: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validação física do realizado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57213" y="1730908"/>
            <a:ext cx="3871913" cy="1910172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1525" y="1945221"/>
            <a:ext cx="34432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3: ATINGIMENTO FÍSICO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771525" y="2173821"/>
            <a:ext cx="3443288" cy="52863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5"/>
          <p:cNvSpPr/>
          <p:nvPr/>
        </p:nvSpPr>
        <p:spPr>
          <a:xfrm>
            <a:off x="771525" y="2173821"/>
            <a:ext cx="57150" cy="52863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6"/>
          <p:cNvSpPr/>
          <p:nvPr/>
        </p:nvSpPr>
        <p:spPr>
          <a:xfrm>
            <a:off x="771525" y="2173821"/>
            <a:ext cx="3443288" cy="52863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Qtd ÷ (Meta × Horas)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1525" y="2845333"/>
            <a:ext cx="3443288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 a produção real (Quantidade) com a capacidade teórica esperada para o tempo logado (Meta x Horas).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14875" y="1730908"/>
            <a:ext cx="3871913" cy="1910172"/>
          </a:xfrm>
          <a:prstGeom prst="rect">
            <a:avLst/>
          </a:prstGeom>
          <a:solidFill>
            <a:srgbClr val="FFFFFF"/>
          </a:solidFill>
          <a:ln w="36576">
            <a:solidFill>
              <a:srgbClr val="1720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29188" y="1945221"/>
            <a:ext cx="34432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MODELO 4: PRODUTIVIDADE DIRETA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4929188" y="2173821"/>
            <a:ext cx="3443288" cy="52863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1"/>
          <p:cNvSpPr/>
          <p:nvPr/>
        </p:nvSpPr>
        <p:spPr>
          <a:xfrm>
            <a:off x="4929188" y="2173821"/>
            <a:ext cx="57150" cy="52863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2"/>
          <p:cNvSpPr/>
          <p:nvPr/>
        </p:nvSpPr>
        <p:spPr>
          <a:xfrm>
            <a:off x="4929188" y="2173821"/>
            <a:ext cx="3443288" cy="52863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(Qtd ÷ Horas) ÷ Meta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29188" y="2845333"/>
            <a:ext cx="3443288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Recalcula a produtividade média horária real e a compara com a meta unitária estabelecida para a atividade.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7213" y="3998268"/>
            <a:ext cx="8029575" cy="882253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18" name="Text 15"/>
          <p:cNvSpPr/>
          <p:nvPr/>
        </p:nvSpPr>
        <p:spPr>
          <a:xfrm>
            <a:off x="557213" y="3998268"/>
            <a:ext cx="8029575" cy="882253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Identidade Matemática: Se </a:t>
            </a:r>
            <a:r>
              <a:rPr lang="en-US" sz="1000" b="1" dirty="0">
                <a:solidFill>
                  <a:srgbClr val="FFD7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Produtividade = Quantidade ÷ Horas</a:t>
            </a: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, os modelos 3 e 4 são equivalentes.</a:t>
            </a: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
</a:t>
            </a: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convergência de custos (R$ 217k) confirma a integridade dos campos de Quantidade e Horas na </a:t>
            </a:r>
            <a:r>
              <a:rPr lang="en-US" sz="10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base.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41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09 | RECOMENDAÇÕES ESTRATÉGICAS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557213" y="653653"/>
            <a:ext cx="8029575" cy="72006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57213" y="653653"/>
            <a:ext cx="71438" cy="7200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3"/>
          <p:cNvSpPr/>
          <p:nvPr/>
        </p:nvSpPr>
        <p:spPr>
          <a:xfrm>
            <a:off x="557213" y="653653"/>
            <a:ext cx="8029575" cy="72006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Recomendação: aprovar o método</a:t>
            </a: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1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antes de aprovar o valor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557213" y="1730908"/>
            <a:ext cx="3907631" cy="1140823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" y="196665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07281" y="1909502"/>
            <a:ext cx="31789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VALIDAR RÉGUA POR ATIVIDADE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07281" y="2155961"/>
            <a:ext cx="31789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Homologar os valores das faixas para todas as atividades, especialmente onde a aba original está sem valores preenchidos.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79156" y="1730908"/>
            <a:ext cx="3907631" cy="1140823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96665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29225" y="1909502"/>
            <a:ext cx="31789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TRATAMENTO DE EXCEÇÕES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229225" y="2155961"/>
            <a:ext cx="317896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a regra oficial para metas zeradas, horas ausentes e registros inválidos para evitar pagamentos indevidos.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557213" y="3086044"/>
            <a:ext cx="3907631" cy="1140823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3321788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07281" y="3264638"/>
            <a:ext cx="317896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GRANULARIDADE DO PAGAMENTO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1107281" y="3511097"/>
            <a:ext cx="31789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Escolher se o bônus será pago por registro individual, colaborador consolidado ou média mensal da unidade.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4679156" y="3086044"/>
            <a:ext cx="3907631" cy="1140823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264638"/>
            <a:ext cx="28575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86375" y="3207488"/>
            <a:ext cx="3121819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FILTROS DE RH E COMPLIANCE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5286375" y="3453947"/>
            <a:ext cx="312181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Integrar critérios de afastamento, presenteísmo, intrajornada e limites legais (teto por CD) ao cálculo final.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557213" y="4326880"/>
            <a:ext cx="8029575" cy="442913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4" name="Text 17"/>
          <p:cNvSpPr/>
          <p:nvPr/>
        </p:nvSpPr>
        <p:spPr>
          <a:xfrm>
            <a:off x="557213" y="4326880"/>
            <a:ext cx="8029575" cy="44291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 estudo atual é um cenário de simulação. A transição para folha exige validação técnica e jurídica.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84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400050"/>
            <a:ext cx="80295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C62828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10 | PLANO DE AÇÃO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557213" y="653653"/>
            <a:ext cx="8029575" cy="764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Próximos passos para transformar</a:t>
            </a: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
</a:t>
            </a:r>
            <a:r>
              <a:rPr lang="en-US" sz="2250" b="1" dirty="0">
                <a:solidFill>
                  <a:srgbClr val="172033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cenário em regra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57213" y="1589484"/>
            <a:ext cx="8029575" cy="602196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213" y="1589484"/>
            <a:ext cx="571500" cy="545046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7" name="Text 4"/>
          <p:cNvSpPr/>
          <p:nvPr/>
        </p:nvSpPr>
        <p:spPr>
          <a:xfrm>
            <a:off x="557213" y="1589484"/>
            <a:ext cx="571500" cy="545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57300" y="1675209"/>
            <a:ext cx="7200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HOMOLOGAÇÃO MULTIDISCIPLINAR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257300" y="1878806"/>
            <a:ext cx="72009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Validar fórmulas com Operações, RH e Controladoria.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213" y="2220255"/>
            <a:ext cx="8029575" cy="602196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57213" y="2220255"/>
            <a:ext cx="571500" cy="545046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12" name="Text 9"/>
          <p:cNvSpPr/>
          <p:nvPr/>
        </p:nvSpPr>
        <p:spPr>
          <a:xfrm>
            <a:off x="557213" y="2220255"/>
            <a:ext cx="571500" cy="545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57300" y="2305980"/>
            <a:ext cx="7200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BACKTEST E ANÁLISE DE DISPERSÃO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57300" y="2509577"/>
            <a:ext cx="72009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Executar backtest para medir variabilidade e consistência.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213" y="2851026"/>
            <a:ext cx="8029575" cy="602196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7213" y="2851026"/>
            <a:ext cx="571500" cy="545046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17" name="Text 14"/>
          <p:cNvSpPr/>
          <p:nvPr/>
        </p:nvSpPr>
        <p:spPr>
          <a:xfrm>
            <a:off x="557213" y="2851026"/>
            <a:ext cx="571500" cy="545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57300" y="2936751"/>
            <a:ext cx="7200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SIMULAÇÃO DE LIMITES E TRAVAS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257300" y="3140348"/>
            <a:ext cx="72009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Definir pisos, tetos e regras para outliers.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57213" y="3481797"/>
            <a:ext cx="8029575" cy="602196"/>
          </a:xfrm>
          <a:prstGeom prst="rect">
            <a:avLst/>
          </a:prstGeom>
          <a:solidFill>
            <a:srgbClr val="FFFFFF"/>
          </a:solidFill>
          <a:ln w="27432">
            <a:solidFill>
              <a:srgbClr val="17203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57213" y="3481797"/>
            <a:ext cx="571500" cy="545046"/>
          </a:xfrm>
          <a:prstGeom prst="rect">
            <a:avLst/>
          </a:prstGeom>
          <a:solidFill>
            <a:srgbClr val="1F5A92"/>
          </a:solidFill>
          <a:ln/>
        </p:spPr>
      </p:sp>
      <p:sp>
        <p:nvSpPr>
          <p:cNvPr id="22" name="Text 19"/>
          <p:cNvSpPr/>
          <p:nvPr/>
        </p:nvSpPr>
        <p:spPr>
          <a:xfrm>
            <a:off x="557213" y="3481797"/>
            <a:ext cx="571500" cy="54504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257300" y="3567522"/>
            <a:ext cx="72009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5A92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PUBLICAÇÃO E GOVERNANÇA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257300" y="3771119"/>
            <a:ext cx="720090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45506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Formalizar regra com trilha de auditoria.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57213" y="4264819"/>
            <a:ext cx="8029575" cy="550069"/>
          </a:xfrm>
          <a:prstGeom prst="rect">
            <a:avLst/>
          </a:prstGeom>
          <a:solidFill>
            <a:srgbClr val="172033"/>
          </a:solidFill>
          <a:ln/>
        </p:spPr>
      </p:sp>
      <p:sp>
        <p:nvSpPr>
          <p:cNvPr id="26" name="Text 23"/>
          <p:cNvSpPr/>
          <p:nvPr/>
        </p:nvSpPr>
        <p:spPr>
          <a:xfrm>
            <a:off x="557213" y="4264819"/>
            <a:ext cx="8029575" cy="550069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spc="1" kern="0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FOCO EM TRANSPARÊNCIA, AUDITABILIDADE E INCENTIVO AO DESEMPENHO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2026-09-03T18:08:27Z</dcterms:created>
  <dcterms:modified xsi:type="dcterms:W3CDTF">2026-09-03T18:08:27Z</dcterms:modified>
</cp:coreProperties>
</file>