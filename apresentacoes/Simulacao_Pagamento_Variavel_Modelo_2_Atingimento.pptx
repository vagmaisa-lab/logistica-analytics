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1405533"/>
            <a:ext cx="640018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ESTUDO ANALÍTICO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00088" y="1737717"/>
            <a:ext cx="6400186" cy="990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Simulação de</a:t>
            </a: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Pagamento Variável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00088" y="2927821"/>
            <a:ext cx="5429250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modelos para os Centros de Distribuição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0088" y="3580749"/>
            <a:ext cx="64001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JULHO DE 2026 | BASE CDs.xlsx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5400000">
            <a:off x="8136731" y="4189809"/>
            <a:ext cx="571500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2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68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 | ENQUADRAMENTO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Objetivo do estudo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57213" y="1446609"/>
            <a:ext cx="4106987" cy="348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Transformar o realizado 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operacional em uma decisão 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 pagamento variável </a:t>
            </a: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comparável e auditável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164262" y="1625203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64262" y="1868091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Comparar alternativas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64262" y="2078831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Avaliar quatro lógicas de incentivo sobre os mesmos dados.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64262" y="2785281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64262" y="3028169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Quantificar impacto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64262" y="3238909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Calcular elegibilidade e custo por CD, colaborador e atividade.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64262" y="3945359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4262" y="4188247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Apoiar a decisão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64262" y="4398987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Evidenciar trade-offs entre simplicidade, aderência e controle.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 | Base e escopo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base permite uma análise nominal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57213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2.494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57213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 operacionais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64606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564606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centros de distribuição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4572000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categorias de empresa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79394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6579394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atividades principais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213" y="2828925"/>
            <a:ext cx="8029575" cy="8143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213" y="2828925"/>
            <a:ext cx="8029575" cy="814388"/>
          </a:xfrm>
          <a:prstGeom prst="rect">
            <a:avLst/>
          </a:prstGeom>
          <a:noFill/>
          <a:ln/>
        </p:spPr>
        <p:txBody>
          <a:bodyPr wrap="square" lIns="238125" tIns="204089" rIns="238125" bIns="204089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Rastreabilidade: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aba </a:t>
            </a:r>
            <a:r>
              <a:rPr lang="en-US" sz="10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Din_Labor%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agregada por CD e atividade. O cálculo por nome utiliza a aba </a:t>
            </a:r>
            <a:r>
              <a:rPr lang="en-US" sz="10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contém colaborador, quantidade, horas, produtividade e meta.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00050"/>
            <a:ext cx="8172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 | METODOLOGIA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85775" y="625078"/>
            <a:ext cx="81724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Quatro modelos, quatro lógicas de incentivo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85775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650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28650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Fator de Performance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8650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35806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35806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÷ Meta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8650" y="2836069"/>
            <a:ext cx="1650206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Lógica decimal simples. O bônus é disparado conforme o fator resultante (ex: 1.5, 2.0).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64606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7481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707481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% de Atingimento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07481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2707481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2814638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814638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(Prod. ÷ Meta) × 100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07481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percentual clássica. Faixas de 100% a 160% conforme definido na aba Simulação_Faixa.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43438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6313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86313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Meta × Horas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86313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4893469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893469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Qtd ÷ (Meta × Horas)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86313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física. Compara a produção real com o alvo teórico ajustado pelo tempo logado.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722269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5144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865144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Direta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65144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0"/>
          <p:cNvSpPr/>
          <p:nvPr/>
        </p:nvSpPr>
        <p:spPr>
          <a:xfrm>
            <a:off x="6865144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1"/>
          <p:cNvSpPr/>
          <p:nvPr/>
        </p:nvSpPr>
        <p:spPr>
          <a:xfrm>
            <a:off x="6972300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6972300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(Qtd ÷ Horas) ÷ Meta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65144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de eficiência. Recalcula a produtividade real e a compara com a meta estabelecida.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11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 | MODELO EM DESTAQUE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39366"/>
            <a:ext cx="8029575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% de Atingimento traduz o desempenho em uma linguagem simples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57213" y="1447949"/>
            <a:ext cx="80295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régua percentual facilita a comunicação, a auditoria e a percepção de justiça do incentivo.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57213" y="1855143"/>
            <a:ext cx="8029575" cy="478631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7" name="Shape 4"/>
          <p:cNvSpPr/>
          <p:nvPr/>
        </p:nvSpPr>
        <p:spPr>
          <a:xfrm>
            <a:off x="557213" y="1855143"/>
            <a:ext cx="85725" cy="478631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5"/>
          <p:cNvSpPr/>
          <p:nvPr/>
        </p:nvSpPr>
        <p:spPr>
          <a:xfrm>
            <a:off x="700088" y="2015877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FÓRMULA DO MODELO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8478" y="1955155"/>
            <a:ext cx="347543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5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(Produtividade ÷ Meta) × 100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7213" y="2476649"/>
            <a:ext cx="4759133" cy="2624491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356" y="2476649"/>
            <a:ext cx="2660433" cy="289322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2" name="Text 9"/>
          <p:cNvSpPr/>
          <p:nvPr/>
        </p:nvSpPr>
        <p:spPr>
          <a:xfrm>
            <a:off x="564356" y="2476649"/>
            <a:ext cx="266043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FAIXA DE ATINGIMENTO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24789" y="2476649"/>
            <a:ext cx="2084412" cy="289322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4" name="Text 11"/>
          <p:cNvSpPr/>
          <p:nvPr/>
        </p:nvSpPr>
        <p:spPr>
          <a:xfrm>
            <a:off x="3224789" y="2476649"/>
            <a:ext cx="2084412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 DO BÔNUS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4356" y="276597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&gt; 100% a &lt; 110%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24789" y="276597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4356" y="309854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110% a 120%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24789" y="309854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4356" y="343112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120% a 130%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24789" y="343112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4356" y="376369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130% a 140%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24789" y="376369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4356" y="409627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140% a 150%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24789" y="409627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4356" y="4428846"/>
            <a:ext cx="4744845" cy="332575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6" name="Text 23"/>
          <p:cNvSpPr/>
          <p:nvPr/>
        </p:nvSpPr>
        <p:spPr>
          <a:xfrm>
            <a:off x="564356" y="442884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150% a 160%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24789" y="442884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R$ 250,00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4356" y="476142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&gt; 160%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24789" y="476142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R$ 750,00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16370" y="2476649"/>
            <a:ext cx="3070361" cy="936501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02095" y="2562374"/>
            <a:ext cx="28989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506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 ELEGÍVEIS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602095" y="2726680"/>
            <a:ext cx="289891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847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5602095" y="3101727"/>
            <a:ext cx="2898911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maior que zero e produtividade válida.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516370" y="3427437"/>
            <a:ext cx="3070361" cy="936501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02095" y="3513162"/>
            <a:ext cx="28989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506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CUSTO ESTIMADO DO MODELO 2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602095" y="3677469"/>
            <a:ext cx="289891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R$ 215.200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5602095" y="4052515"/>
            <a:ext cx="2898911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 aplicado sobre a base de julho de 2026.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516370" y="4378226"/>
            <a:ext cx="3070361" cy="58003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Leitura executiva: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é mais intuitivo que o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fator decimal, mas precisa de validação da régua por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atividade e de tratamento das metas zeradas.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 | IMPACTO FINANCEIRO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% de Atingimento é a referência mais clara para a decisão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57213" y="1590824"/>
            <a:ext cx="4561898" cy="3000375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790849"/>
            <a:ext cx="4089797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580" y="1590824"/>
            <a:ext cx="3146152" cy="1477194"/>
          </a:xfrm>
          <a:prstGeom prst="rect">
            <a:avLst/>
          </a:prstGeom>
          <a:solidFill>
            <a:srgbClr val="FFF2CC"/>
          </a:solidFill>
          <a:ln w="45720">
            <a:solidFill>
              <a:srgbClr val="C628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97742" y="1747986"/>
            <a:ext cx="28318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2 — % DE ATINGIMENTO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597742" y="1926580"/>
            <a:ext cx="2831827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R$ 215.200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597742" y="2348061"/>
            <a:ext cx="2831827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847 registros elegíveis.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comunica o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desempenho em percentual e mantém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rastreabilidade simples.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440580" y="3096592"/>
            <a:ext cx="3146152" cy="456419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Comparação:</a:t>
            </a: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1 custa R$ 72.550, enquanto </a:t>
            </a: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Modelos 3 e 4 chegam a R$ 217.000.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40580" y="3681599"/>
            <a:ext cx="3146152" cy="777887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Text 9"/>
          <p:cNvSpPr/>
          <p:nvPr/>
        </p:nvSpPr>
        <p:spPr>
          <a:xfrm>
            <a:off x="5440580" y="3681599"/>
            <a:ext cx="3146152" cy="777887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Decisão sugerida: validar o Modelo 2 como linguagem oficial do incentivo e homologar sua régua por atividade.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8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 | AUDITORIA DE DADOS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213" y="653653"/>
            <a:ext cx="71438" cy="764381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elegibilidade muda conforme a qualidade do dado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57213" y="1775222"/>
            <a:ext cx="3454952" cy="3243263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2700" y="1989534"/>
            <a:ext cx="280392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COMPOSIÇÃO DA BASE (REGISTROS)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07431"/>
            <a:ext cx="2953941" cy="2143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3154" y="4593431"/>
            <a:ext cx="12430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Total: 2.494 registros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455077" y="1789509"/>
            <a:ext cx="1359322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2" name="Text 8"/>
          <p:cNvSpPr/>
          <p:nvPr/>
        </p:nvSpPr>
        <p:spPr>
          <a:xfrm>
            <a:off x="4455077" y="1789509"/>
            <a:ext cx="1359322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STATUS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5814399" y="1789509"/>
            <a:ext cx="906196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4" name="Text 10"/>
          <p:cNvSpPr/>
          <p:nvPr/>
        </p:nvSpPr>
        <p:spPr>
          <a:xfrm>
            <a:off x="5814399" y="1789509"/>
            <a:ext cx="906196" cy="35004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720594" y="1789509"/>
            <a:ext cx="1851906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6" name="Text 12"/>
          <p:cNvSpPr/>
          <p:nvPr/>
        </p:nvSpPr>
        <p:spPr>
          <a:xfrm>
            <a:off x="6720594" y="1789509"/>
            <a:ext cx="1851906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MOTIVO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455077" y="2139553"/>
            <a:ext cx="1359322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455077" y="2503884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5"/>
          <p:cNvSpPr/>
          <p:nvPr/>
        </p:nvSpPr>
        <p:spPr>
          <a:xfrm>
            <a:off x="4455077" y="2139553"/>
            <a:ext cx="135932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Elegíveis (M1/2)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814399" y="2139553"/>
            <a:ext cx="90619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814399" y="2503884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8"/>
          <p:cNvSpPr/>
          <p:nvPr/>
        </p:nvSpPr>
        <p:spPr>
          <a:xfrm>
            <a:off x="5814399" y="2139553"/>
            <a:ext cx="906196" cy="37861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847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720594" y="2139553"/>
            <a:ext cx="185190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720594" y="2503884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594" y="2139553"/>
            <a:ext cx="185190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&gt; 0 e Prod. Válida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55077" y="2511028"/>
            <a:ext cx="1359322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4455077" y="2875359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4455077" y="2511028"/>
            <a:ext cx="135932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Elegíveis (M3/4)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814399" y="2511028"/>
            <a:ext cx="90619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5814399" y="2875359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7"/>
          <p:cNvSpPr/>
          <p:nvPr/>
        </p:nvSpPr>
        <p:spPr>
          <a:xfrm>
            <a:off x="5814399" y="2511028"/>
            <a:ext cx="906196" cy="37861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844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720594" y="2511028"/>
            <a:ext cx="185190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6720594" y="2875359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0"/>
          <p:cNvSpPr/>
          <p:nvPr/>
        </p:nvSpPr>
        <p:spPr>
          <a:xfrm>
            <a:off x="6720594" y="2511028"/>
            <a:ext cx="185190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Qtd e Horas Válidas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455077" y="2882503"/>
            <a:ext cx="1359322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2"/>
          <p:cNvSpPr/>
          <p:nvPr/>
        </p:nvSpPr>
        <p:spPr>
          <a:xfrm>
            <a:off x="4455077" y="3253978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3"/>
          <p:cNvSpPr/>
          <p:nvPr/>
        </p:nvSpPr>
        <p:spPr>
          <a:xfrm>
            <a:off x="4455077" y="2882503"/>
            <a:ext cx="1359322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Excluídos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814399" y="2882503"/>
            <a:ext cx="906196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5"/>
          <p:cNvSpPr/>
          <p:nvPr/>
        </p:nvSpPr>
        <p:spPr>
          <a:xfrm>
            <a:off x="5814399" y="3253978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6"/>
          <p:cNvSpPr/>
          <p:nvPr/>
        </p:nvSpPr>
        <p:spPr>
          <a:xfrm>
            <a:off x="5814399" y="2882503"/>
            <a:ext cx="906196" cy="38576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1.647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720594" y="2882503"/>
            <a:ext cx="1851906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6720594" y="3253978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39"/>
          <p:cNvSpPr/>
          <p:nvPr/>
        </p:nvSpPr>
        <p:spPr>
          <a:xfrm>
            <a:off x="6720594" y="2882503"/>
            <a:ext cx="18519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Zero ou Inválida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440789" y="3461147"/>
            <a:ext cx="4145998" cy="88426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Impacto Crítico: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66% da base foi desconsiderada para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devido a inconsistências ou metas não cadastradas.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homologação do modelo exige o saneamento prévio destes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 | GOVERNANÇA DA DECISÃO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decisão deve ser tomada por CD,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não apenas pelo total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92956" y="1738052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Visão Granular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2956" y="1988083"/>
            <a:ext cx="3910199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planilha consolida valor, elegibilidade e ticket médio por CD e colaborador, permitindo identificar distorções locais.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2956" y="2598093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Rastreabilidade Total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2956" y="2848124"/>
            <a:ext cx="391019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detalhamento nominal no Excel permite localizar exatamente onde estão as concentrações de custo e as exclusões.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92956" y="3638122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Filtros Operacionais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2956" y="3888153"/>
            <a:ext cx="391019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decisão deve considerar o ranking de performance ajustado, separando o efeito de mix de atividades da eficiência real.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31780" y="1702333"/>
            <a:ext cx="3455008" cy="2725787"/>
          </a:xfrm>
          <a:prstGeom prst="rect">
            <a:avLst/>
          </a:prstGeom>
          <a:solidFill>
            <a:srgbClr val="FFFFFF"/>
          </a:solidFill>
          <a:ln w="4572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81811" y="2381213"/>
            <a:ext cx="295494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ATENÇÃO CRÍTICA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81811" y="2731257"/>
            <a:ext cx="2954945" cy="101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CDs com </a:t>
            </a:r>
            <a:r>
              <a:rPr lang="en-US" sz="95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meta zero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devem ser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comparados diretamente com unidades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meta válida. O atingimento de 100%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nesses casos é um viés de dado que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precisa ser isolado na aprovação final.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213" y="4713870"/>
            <a:ext cx="80295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CONSULTE A ABA "SIMULAÇÃO DE REDUÇÃO" PARA O DETALHAMENTO NOMINAL COMPLETO.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2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 | CONSISTÊNCIA DE DADOS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Modelos 3 e 4 funcionam como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validação física do realizado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57213" y="1730908"/>
            <a:ext cx="3871913" cy="1910172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1525" y="1945221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3: ATINGIMENTO FÍSICO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771525" y="2173821"/>
            <a:ext cx="3443288" cy="52863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771525" y="2173821"/>
            <a:ext cx="57150" cy="52863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771525" y="2173821"/>
            <a:ext cx="3443288" cy="5286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Qtd ÷ (Meta × Horas)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1525" y="2845333"/>
            <a:ext cx="344328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 a produção real (Quantidade) com a capacidade teórica esperada para o tempo logado (Meta x Horas).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14875" y="1730908"/>
            <a:ext cx="3871913" cy="1910172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29188" y="1945221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4: PRODUTIVIDADE DIRETA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929188" y="2173821"/>
            <a:ext cx="3443288" cy="52863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929188" y="2173821"/>
            <a:ext cx="57150" cy="52863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188" y="2173821"/>
            <a:ext cx="3443288" cy="5286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(Qtd ÷ Horas) ÷ Meta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29188" y="2845333"/>
            <a:ext cx="344328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Recalcula a produtividade média horária real e a compara com a meta unitária estabelecida para a atividade.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213" y="3998268"/>
            <a:ext cx="8029575" cy="88225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8" name="Text 15"/>
          <p:cNvSpPr/>
          <p:nvPr/>
        </p:nvSpPr>
        <p:spPr>
          <a:xfrm>
            <a:off x="557213" y="3998268"/>
            <a:ext cx="8029575" cy="88225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Identidade Matemática: Se </a:t>
            </a:r>
            <a:r>
              <a:rPr lang="en-US" sz="1000" b="1" dirty="0">
                <a:solidFill>
                  <a:srgbClr val="FFD7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= Quantidade ÷ Horas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, os modelos 3 e 4 são equivalentes.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convergência de custos (R$ 217k) confirma a integridade dos campos de Quantidade e Horas na 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41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 | RECOMENDAÇÕES ESTRATÉGICAS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213" y="653653"/>
            <a:ext cx="71438" cy="7200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Recomendação: aprovar o método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antes de aprovar o valor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57213" y="1730908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96665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7281" y="1909502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VALIDAR RÉGUA POR ATIVIDADE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7281" y="2155961"/>
            <a:ext cx="31789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Homologar os valores das faixas para todas as atividades, especialmente onde a aba original está sem valores preenchidos.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79156" y="1730908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9666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29225" y="1909502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TRATAMENTO DE EXCEÇÕES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229225" y="2155961"/>
            <a:ext cx="31789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a regra oficial para metas zeradas, horas ausentes e registros inválidos para evitar pagamentos indevidos.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57213" y="3086044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3321788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7281" y="3264638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GRANULARIDADE DO PAGAMENTO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07281" y="3511097"/>
            <a:ext cx="31789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se o bônus será pago por registro individual, colaborador consolidado ou média mensal da unidade.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79156" y="3086044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264638"/>
            <a:ext cx="28575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86375" y="3207488"/>
            <a:ext cx="31218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FILTROS DE RH E COMPLIANCE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286375" y="3453947"/>
            <a:ext cx="31218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critérios de afastamento, presenteísmo, intrajornada e limites legais (teto por CD) ao cálculo final.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57213" y="4326880"/>
            <a:ext cx="8029575" cy="44291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4" name="Text 17"/>
          <p:cNvSpPr/>
          <p:nvPr/>
        </p:nvSpPr>
        <p:spPr>
          <a:xfrm>
            <a:off x="557213" y="4326880"/>
            <a:ext cx="8029575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estudo atual é um cenário de simulação. A transição para folha exige validação técnica e jurídica.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8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| PLANO DE AÇÃO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Próximos passos para transformar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cenário em regra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57213" y="1589484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213" y="1589484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1589484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57300" y="1675209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HOMOLOGAÇÃO MULTIDISCIPLINAR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57300" y="1878806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fórmulas com Operações, RH e Controladoria.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213" y="2220255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7213" y="2220255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2" name="Text 9"/>
          <p:cNvSpPr/>
          <p:nvPr/>
        </p:nvSpPr>
        <p:spPr>
          <a:xfrm>
            <a:off x="557213" y="2220255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57300" y="2305980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BACKTEST E ANÁLISE DE DISPERSÃO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57300" y="2509577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Executar backtest para medir variabilidade e consistência.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213" y="2851026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213" y="2851026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7" name="Text 14"/>
          <p:cNvSpPr/>
          <p:nvPr/>
        </p:nvSpPr>
        <p:spPr>
          <a:xfrm>
            <a:off x="557213" y="2851026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57300" y="2936751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SIMULAÇÃO DE LIMITES E TRAVAS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57300" y="3140348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pisos, tetos e regras para outliers.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7213" y="3481797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213" y="3481797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22" name="Text 19"/>
          <p:cNvSpPr/>
          <p:nvPr/>
        </p:nvSpPr>
        <p:spPr>
          <a:xfrm>
            <a:off x="557213" y="3481797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57300" y="3567522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PUBLICAÇÃO E GOVERNANÇA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57300" y="3771119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Formalizar regra com trilha de auditoria.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213" y="4264819"/>
            <a:ext cx="8029575" cy="550069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6" name="Text 23"/>
          <p:cNvSpPr/>
          <p:nvPr/>
        </p:nvSpPr>
        <p:spPr>
          <a:xfrm>
            <a:off x="557213" y="4264819"/>
            <a:ext cx="8029575" cy="550069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FOCO EM TRANSPARÊNCIA, AUDITABILIDADE E INCENTIVO AO DESEMPENHO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2026-09-03T18:00:13Z</dcterms:created>
  <dcterms:modified xsi:type="dcterms:W3CDTF">2026-09-03T18:00:13Z</dcterms:modified>
</cp:coreProperties>
</file>